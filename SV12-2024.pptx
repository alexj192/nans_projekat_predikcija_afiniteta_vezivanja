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18"/>
  </p:notesMasterIdLst>
  <p:sldIdLst>
    <p:sldId id="256" r:id="rId2"/>
    <p:sldId id="319" r:id="rId3"/>
    <p:sldId id="320" r:id="rId4"/>
    <p:sldId id="321" r:id="rId5"/>
    <p:sldId id="333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</p:sldIdLst>
  <p:sldSz cx="9144000" cy="5143500" type="screen16x9"/>
  <p:notesSz cx="6858000" cy="9144000"/>
  <p:embeddedFontLst>
    <p:embeddedFont>
      <p:font typeface="Questrial" panose="020B0604020202020204" charset="0"/>
      <p:regular r:id="rId19"/>
    </p:embeddedFont>
    <p:embeddedFont>
      <p:font typeface="Albert Sa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CB7C866-A640-4CF6-963C-3A26AF1A4B5B}">
  <a:tblStyle styleId="{1CB7C866-A640-4CF6-963C-3A26AF1A4B5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EBAF358-9631-44EE-9ABA-FE9C3D04DBA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311850"/>
            <a:ext cx="4708200" cy="23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Questrial"/>
              <a:buNone/>
              <a:defRPr sz="5200" b="1">
                <a:solidFill>
                  <a:srgbClr val="191919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613150"/>
            <a:ext cx="4708200" cy="41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6500950" y="539500"/>
            <a:ext cx="1929900" cy="4572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Questrial"/>
              <a:buNone/>
              <a:defRPr sz="2000" b="1"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237697" y="-361624"/>
            <a:ext cx="9810337" cy="1466543"/>
            <a:chOff x="-237697" y="-361624"/>
            <a:chExt cx="9810337" cy="1466543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0" name="Google Shape;20;p2"/>
            <p:cNvSpPr/>
            <p:nvPr/>
          </p:nvSpPr>
          <p:spPr>
            <a:xfrm>
              <a:off x="8830749" y="44251"/>
              <a:ext cx="741890" cy="642509"/>
            </a:xfrm>
            <a:custGeom>
              <a:avLst/>
              <a:gdLst/>
              <a:ahLst/>
              <a:cxnLst/>
              <a:rect l="l" t="t" r="r" b="b"/>
              <a:pathLst>
                <a:path w="15184" h="13150" extrusionOk="0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t="18966" b="18972"/>
          <a:stretch/>
        </p:blipFill>
        <p:spPr>
          <a:xfrm>
            <a:off x="124825" y="4026854"/>
            <a:ext cx="1695600" cy="105232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grpSp>
        <p:nvGrpSpPr>
          <p:cNvPr id="77" name="Google Shape;77;p6"/>
          <p:cNvGrpSpPr/>
          <p:nvPr/>
        </p:nvGrpSpPr>
        <p:grpSpPr>
          <a:xfrm>
            <a:off x="-499823" y="-218749"/>
            <a:ext cx="9980037" cy="5560573"/>
            <a:chOff x="-499823" y="-218749"/>
            <a:chExt cx="9980037" cy="5560573"/>
          </a:xfrm>
        </p:grpSpPr>
        <p:grpSp>
          <p:nvGrpSpPr>
            <p:cNvPr id="78" name="Google Shape;78;p6"/>
            <p:cNvGrpSpPr/>
            <p:nvPr/>
          </p:nvGrpSpPr>
          <p:grpSpPr>
            <a:xfrm>
              <a:off x="-499823" y="-218749"/>
              <a:ext cx="1169438" cy="1769623"/>
              <a:chOff x="-237723" y="-361624"/>
              <a:chExt cx="1169438" cy="1769623"/>
            </a:xfrm>
          </p:grpSpPr>
          <p:sp>
            <p:nvSpPr>
              <p:cNvPr id="79" name="Google Shape;79;p6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6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6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6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6"/>
              <p:cNvSpPr/>
              <p:nvPr/>
            </p:nvSpPr>
            <p:spPr>
              <a:xfrm>
                <a:off x="-237723" y="851040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4" name="Google Shape;84;p6"/>
            <p:cNvGrpSpPr/>
            <p:nvPr/>
          </p:nvGrpSpPr>
          <p:grpSpPr>
            <a:xfrm>
              <a:off x="8694225" y="86051"/>
              <a:ext cx="785989" cy="1163348"/>
              <a:chOff x="8694225" y="86051"/>
              <a:chExt cx="785989" cy="1163348"/>
            </a:xfrm>
          </p:grpSpPr>
          <p:sp>
            <p:nvSpPr>
              <p:cNvPr id="85" name="Google Shape;85;p6"/>
              <p:cNvSpPr/>
              <p:nvPr/>
            </p:nvSpPr>
            <p:spPr>
              <a:xfrm flipH="1">
                <a:off x="8694225" y="86051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 flipH="1">
                <a:off x="8837100" y="692440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5400000" flipH="1">
              <a:off x="8364552" y="4438545"/>
              <a:ext cx="643199" cy="1163348"/>
              <a:chOff x="8529877" y="4094470"/>
              <a:chExt cx="643199" cy="1163348"/>
            </a:xfrm>
          </p:grpSpPr>
          <p:sp>
            <p:nvSpPr>
              <p:cNvPr id="88" name="Google Shape;88;p6"/>
              <p:cNvSpPr/>
              <p:nvPr/>
            </p:nvSpPr>
            <p:spPr>
              <a:xfrm flipH="1">
                <a:off x="8529877" y="47007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 flipH="1">
                <a:off x="8529877" y="409447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" name="Google Shape;90;p6"/>
            <p:cNvSpPr/>
            <p:nvPr/>
          </p:nvSpPr>
          <p:spPr>
            <a:xfrm flipH="1">
              <a:off x="-236679" y="4784865"/>
              <a:ext cx="643156" cy="556959"/>
            </a:xfrm>
            <a:custGeom>
              <a:avLst/>
              <a:gdLst/>
              <a:ahLst/>
              <a:cxnLst/>
              <a:rect l="l" t="t" r="r" b="b"/>
              <a:pathLst>
                <a:path w="15184" h="13149" extrusionOk="0">
                  <a:moveTo>
                    <a:pt x="3796" y="0"/>
                  </a:moveTo>
                  <a:lnTo>
                    <a:pt x="0" y="6574"/>
                  </a:lnTo>
                  <a:lnTo>
                    <a:pt x="3796" y="13148"/>
                  </a:lnTo>
                  <a:lnTo>
                    <a:pt x="11389" y="13148"/>
                  </a:lnTo>
                  <a:lnTo>
                    <a:pt x="15183" y="6574"/>
                  </a:lnTo>
                  <a:lnTo>
                    <a:pt x="11389" y="0"/>
                  </a:lnTo>
                  <a:close/>
                </a:path>
              </a:pathLst>
            </a:custGeom>
            <a:solidFill>
              <a:schemeClr val="accent3">
                <a:alpha val="5885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6"/>
          <p:cNvGrpSpPr/>
          <p:nvPr/>
        </p:nvGrpSpPr>
        <p:grpSpPr>
          <a:xfrm>
            <a:off x="-524099" y="1366315"/>
            <a:ext cx="9943649" cy="1595970"/>
            <a:chOff x="-524099" y="1366315"/>
            <a:chExt cx="9943649" cy="1595970"/>
          </a:xfrm>
        </p:grpSpPr>
        <p:pic>
          <p:nvPicPr>
            <p:cNvPr id="92" name="Google Shape;92;p6"/>
            <p:cNvPicPr preferRelativeResize="0"/>
            <p:nvPr/>
          </p:nvPicPr>
          <p:blipFill rotWithShape="1">
            <a:blip r:embed="rId2">
              <a:alphaModFix/>
            </a:blip>
            <a:srcRect l="22594" t="6732" r="22589" b="6732"/>
            <a:stretch/>
          </p:blipFill>
          <p:spPr>
            <a:xfrm>
              <a:off x="8562975" y="1610050"/>
              <a:ext cx="856575" cy="1352225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93" name="Google Shape;93;p6"/>
            <p:cNvPicPr preferRelativeResize="0"/>
            <p:nvPr/>
          </p:nvPicPr>
          <p:blipFill rotWithShape="1">
            <a:blip r:embed="rId2">
              <a:alphaModFix/>
            </a:blip>
            <a:srcRect l="22594" t="6732" r="22589" b="6732"/>
            <a:stretch/>
          </p:blipFill>
          <p:spPr>
            <a:xfrm rot="-9123115">
              <a:off x="-257175" y="1488188"/>
              <a:ext cx="856575" cy="135222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  <p:sp>
        <p:nvSpPr>
          <p:cNvPr id="20" name="Google Shape;96;p7"/>
          <p:cNvSpPr txBox="1">
            <a:spLocks noGrp="1"/>
          </p:cNvSpPr>
          <p:nvPr>
            <p:ph type="subTitle" idx="1"/>
          </p:nvPr>
        </p:nvSpPr>
        <p:spPr>
          <a:xfrm>
            <a:off x="720000" y="170030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lbert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3" name="Google Shape;553;p33"/>
          <p:cNvGrpSpPr/>
          <p:nvPr/>
        </p:nvGrpSpPr>
        <p:grpSpPr>
          <a:xfrm>
            <a:off x="-135050" y="-373775"/>
            <a:ext cx="9536572" cy="5840717"/>
            <a:chOff x="-135050" y="-373775"/>
            <a:chExt cx="9536572" cy="5840717"/>
          </a:xfrm>
        </p:grpSpPr>
        <p:grpSp>
          <p:nvGrpSpPr>
            <p:cNvPr id="554" name="Google Shape;554;p33"/>
            <p:cNvGrpSpPr/>
            <p:nvPr/>
          </p:nvGrpSpPr>
          <p:grpSpPr>
            <a:xfrm>
              <a:off x="7148219" y="4287222"/>
              <a:ext cx="2253303" cy="1179720"/>
              <a:chOff x="7319525" y="4220750"/>
              <a:chExt cx="2119758" cy="1109803"/>
            </a:xfrm>
          </p:grpSpPr>
          <p:sp>
            <p:nvSpPr>
              <p:cNvPr id="555" name="Google Shape;555;p33"/>
              <p:cNvSpPr/>
              <p:nvPr/>
            </p:nvSpPr>
            <p:spPr>
              <a:xfrm>
                <a:off x="7319525" y="4509915"/>
                <a:ext cx="613585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3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3"/>
              <p:cNvSpPr/>
              <p:nvPr/>
            </p:nvSpPr>
            <p:spPr>
              <a:xfrm>
                <a:off x="8323586" y="4509915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1" y="6576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3"/>
              <p:cNvSpPr/>
              <p:nvPr/>
            </p:nvSpPr>
            <p:spPr>
              <a:xfrm>
                <a:off x="8825617" y="4220750"/>
                <a:ext cx="613666" cy="531351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49" extrusionOk="0">
                    <a:moveTo>
                      <a:pt x="3797" y="0"/>
                    </a:moveTo>
                    <a:lnTo>
                      <a:pt x="1" y="6573"/>
                    </a:lnTo>
                    <a:lnTo>
                      <a:pt x="3797" y="13148"/>
                    </a:lnTo>
                    <a:lnTo>
                      <a:pt x="11389" y="13148"/>
                    </a:lnTo>
                    <a:lnTo>
                      <a:pt x="15185" y="6573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3"/>
              <p:cNvSpPr/>
              <p:nvPr/>
            </p:nvSpPr>
            <p:spPr>
              <a:xfrm>
                <a:off x="7821556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0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3"/>
              <p:cNvSpPr/>
              <p:nvPr/>
            </p:nvSpPr>
            <p:spPr>
              <a:xfrm>
                <a:off x="8825617" y="4799161"/>
                <a:ext cx="613666" cy="53139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60" name="Google Shape;560;p33"/>
            <p:cNvGrpSpPr/>
            <p:nvPr/>
          </p:nvGrpSpPr>
          <p:grpSpPr>
            <a:xfrm>
              <a:off x="-135050" y="-373775"/>
              <a:ext cx="2230134" cy="863394"/>
              <a:chOff x="-135050" y="-373775"/>
              <a:chExt cx="2230134" cy="863394"/>
            </a:xfrm>
          </p:grpSpPr>
          <p:sp>
            <p:nvSpPr>
              <p:cNvPr id="561" name="Google Shape;561;p33"/>
              <p:cNvSpPr/>
              <p:nvPr/>
            </p:nvSpPr>
            <p:spPr>
              <a:xfrm>
                <a:off x="393102" y="-69506"/>
                <a:ext cx="645595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33"/>
              <p:cNvSpPr/>
              <p:nvPr/>
            </p:nvSpPr>
            <p:spPr>
              <a:xfrm>
                <a:off x="-135050" y="-373775"/>
                <a:ext cx="645552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33"/>
              <p:cNvSpPr/>
              <p:nvPr/>
            </p:nvSpPr>
            <p:spPr>
              <a:xfrm>
                <a:off x="921338" y="-373775"/>
                <a:ext cx="645595" cy="55908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33"/>
              <p:cNvSpPr/>
              <p:nvPr/>
            </p:nvSpPr>
            <p:spPr>
              <a:xfrm>
                <a:off x="1449532" y="-69506"/>
                <a:ext cx="645552" cy="559124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65" name="Google Shape;565;p33"/>
          <p:cNvGrpSpPr/>
          <p:nvPr/>
        </p:nvGrpSpPr>
        <p:grpSpPr>
          <a:xfrm>
            <a:off x="0" y="112950"/>
            <a:ext cx="9077325" cy="4867275"/>
            <a:chOff x="0" y="112950"/>
            <a:chExt cx="9077325" cy="4867275"/>
          </a:xfrm>
        </p:grpSpPr>
        <p:pic>
          <p:nvPicPr>
            <p:cNvPr id="566" name="Google Shape;566;p3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877175" y="112950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  <p:pic>
          <p:nvPicPr>
            <p:cNvPr id="567" name="Google Shape;567;p3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3780075"/>
              <a:ext cx="1200150" cy="120015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34"/>
          <p:cNvGrpSpPr/>
          <p:nvPr/>
        </p:nvGrpSpPr>
        <p:grpSpPr>
          <a:xfrm rot="10800000" flipH="1">
            <a:off x="-237697" y="4154451"/>
            <a:ext cx="9810337" cy="1466543"/>
            <a:chOff x="-237697" y="-361624"/>
            <a:chExt cx="9810337" cy="1466543"/>
          </a:xfrm>
        </p:grpSpPr>
        <p:grpSp>
          <p:nvGrpSpPr>
            <p:cNvPr id="570" name="Google Shape;570;p34"/>
            <p:cNvGrpSpPr/>
            <p:nvPr/>
          </p:nvGrpSpPr>
          <p:grpSpPr>
            <a:xfrm>
              <a:off x="-237697" y="-361624"/>
              <a:ext cx="1695668" cy="1466543"/>
              <a:chOff x="-237697" y="-361624"/>
              <a:chExt cx="1695668" cy="1466543"/>
            </a:xfrm>
          </p:grpSpPr>
          <p:sp>
            <p:nvSpPr>
              <p:cNvPr id="571" name="Google Shape;571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4"/>
              <p:cNvSpPr/>
              <p:nvPr/>
            </p:nvSpPr>
            <p:spPr>
              <a:xfrm>
                <a:off x="288516" y="547875"/>
                <a:ext cx="643199" cy="55704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5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4"/>
              <p:cNvSpPr/>
              <p:nvPr/>
            </p:nvSpPr>
            <p:spPr>
              <a:xfrm>
                <a:off x="-237697" y="-361624"/>
                <a:ext cx="643114" cy="557086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52" extrusionOk="0">
                    <a:moveTo>
                      <a:pt x="3796" y="1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7" y="13151"/>
                    </a:lnTo>
                    <a:lnTo>
                      <a:pt x="15183" y="6575"/>
                    </a:lnTo>
                    <a:lnTo>
                      <a:pt x="11387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4"/>
              <p:cNvSpPr/>
              <p:nvPr/>
            </p:nvSpPr>
            <p:spPr>
              <a:xfrm>
                <a:off x="-237697" y="244765"/>
                <a:ext cx="643114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3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7" y="13148"/>
                    </a:lnTo>
                    <a:lnTo>
                      <a:pt x="15183" y="6574"/>
                    </a:lnTo>
                    <a:lnTo>
                      <a:pt x="11387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4"/>
              <p:cNvSpPr/>
              <p:nvPr/>
            </p:nvSpPr>
            <p:spPr>
              <a:xfrm>
                <a:off x="288516" y="-58430"/>
                <a:ext cx="643199" cy="557001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0" extrusionOk="0">
                    <a:moveTo>
                      <a:pt x="3797" y="0"/>
                    </a:moveTo>
                    <a:lnTo>
                      <a:pt x="1" y="6576"/>
                    </a:lnTo>
                    <a:lnTo>
                      <a:pt x="3797" y="13150"/>
                    </a:lnTo>
                    <a:lnTo>
                      <a:pt x="11389" y="13150"/>
                    </a:lnTo>
                    <a:lnTo>
                      <a:pt x="15185" y="6576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34"/>
              <p:cNvSpPr/>
              <p:nvPr/>
            </p:nvSpPr>
            <p:spPr>
              <a:xfrm>
                <a:off x="814814" y="244765"/>
                <a:ext cx="643156" cy="556959"/>
              </a:xfrm>
              <a:custGeom>
                <a:avLst/>
                <a:gdLst/>
                <a:ahLst/>
                <a:cxnLst/>
                <a:rect l="l" t="t" r="r" b="b"/>
                <a:pathLst>
                  <a:path w="15184" h="13149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48"/>
                    </a:lnTo>
                    <a:lnTo>
                      <a:pt x="11389" y="13148"/>
                    </a:lnTo>
                    <a:lnTo>
                      <a:pt x="15183" y="6574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77" name="Google Shape;577;p34"/>
            <p:cNvSpPr/>
            <p:nvPr/>
          </p:nvSpPr>
          <p:spPr>
            <a:xfrm>
              <a:off x="8830749" y="44251"/>
              <a:ext cx="741890" cy="642509"/>
            </a:xfrm>
            <a:custGeom>
              <a:avLst/>
              <a:gdLst/>
              <a:ahLst/>
              <a:cxnLst/>
              <a:rect l="l" t="t" r="r" b="b"/>
              <a:pathLst>
                <a:path w="15184" h="13150" extrusionOk="0">
                  <a:moveTo>
                    <a:pt x="3797" y="0"/>
                  </a:moveTo>
                  <a:lnTo>
                    <a:pt x="0" y="6575"/>
                  </a:lnTo>
                  <a:lnTo>
                    <a:pt x="3797" y="13149"/>
                  </a:lnTo>
                  <a:lnTo>
                    <a:pt x="11388" y="13149"/>
                  </a:lnTo>
                  <a:lnTo>
                    <a:pt x="15184" y="6575"/>
                  </a:lnTo>
                  <a:lnTo>
                    <a:pt x="113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34"/>
          <p:cNvGrpSpPr/>
          <p:nvPr/>
        </p:nvGrpSpPr>
        <p:grpSpPr>
          <a:xfrm>
            <a:off x="5370950" y="1381125"/>
            <a:ext cx="3268225" cy="3222870"/>
            <a:chOff x="5370950" y="1381125"/>
            <a:chExt cx="3268225" cy="3222870"/>
          </a:xfrm>
        </p:grpSpPr>
        <p:grpSp>
          <p:nvGrpSpPr>
            <p:cNvPr id="579" name="Google Shape;579;p34"/>
            <p:cNvGrpSpPr/>
            <p:nvPr/>
          </p:nvGrpSpPr>
          <p:grpSpPr>
            <a:xfrm>
              <a:off x="5532875" y="1381125"/>
              <a:ext cx="2079270" cy="2507147"/>
              <a:chOff x="-2353825" y="1381125"/>
              <a:chExt cx="2079270" cy="2507147"/>
            </a:xfrm>
          </p:grpSpPr>
          <p:sp>
            <p:nvSpPr>
              <p:cNvPr id="580" name="Google Shape;580;p34"/>
              <p:cNvSpPr/>
              <p:nvPr/>
            </p:nvSpPr>
            <p:spPr>
              <a:xfrm>
                <a:off x="-876451" y="1664810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4"/>
              <p:cNvSpPr/>
              <p:nvPr/>
            </p:nvSpPr>
            <p:spPr>
              <a:xfrm>
                <a:off x="-1861407" y="2232220"/>
                <a:ext cx="60193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2" extrusionOk="0">
                    <a:moveTo>
                      <a:pt x="3797" y="1"/>
                    </a:moveTo>
                    <a:lnTo>
                      <a:pt x="1" y="6576"/>
                    </a:lnTo>
                    <a:lnTo>
                      <a:pt x="3797" y="13151"/>
                    </a:lnTo>
                    <a:lnTo>
                      <a:pt x="11389" y="13151"/>
                    </a:lnTo>
                    <a:lnTo>
                      <a:pt x="15186" y="6576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5">
                  <a:alpha val="5443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34"/>
              <p:cNvSpPr/>
              <p:nvPr/>
            </p:nvSpPr>
            <p:spPr>
              <a:xfrm>
                <a:off x="-876451" y="2799669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4"/>
                    </a:lnTo>
                    <a:lnTo>
                      <a:pt x="3796" y="13150"/>
                    </a:lnTo>
                    <a:lnTo>
                      <a:pt x="11388" y="13150"/>
                    </a:lnTo>
                    <a:lnTo>
                      <a:pt x="15185" y="6574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34"/>
              <p:cNvSpPr/>
              <p:nvPr/>
            </p:nvSpPr>
            <p:spPr>
              <a:xfrm>
                <a:off x="-1368909" y="138112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4"/>
              <p:cNvSpPr/>
              <p:nvPr/>
            </p:nvSpPr>
            <p:spPr>
              <a:xfrm>
                <a:off x="-2353825" y="1948535"/>
                <a:ext cx="60189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5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4"/>
              <p:cNvSpPr/>
              <p:nvPr/>
            </p:nvSpPr>
            <p:spPr>
              <a:xfrm>
                <a:off x="-1368909" y="1948535"/>
                <a:ext cx="601935" cy="52127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1" extrusionOk="0">
                    <a:moveTo>
                      <a:pt x="3796" y="0"/>
                    </a:moveTo>
                    <a:lnTo>
                      <a:pt x="0" y="6575"/>
                    </a:lnTo>
                    <a:lnTo>
                      <a:pt x="3796" y="13151"/>
                    </a:lnTo>
                    <a:lnTo>
                      <a:pt x="11389" y="13151"/>
                    </a:lnTo>
                    <a:lnTo>
                      <a:pt x="15185" y="6575"/>
                    </a:lnTo>
                    <a:lnTo>
                      <a:pt x="11389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4"/>
              <p:cNvSpPr/>
              <p:nvPr/>
            </p:nvSpPr>
            <p:spPr>
              <a:xfrm>
                <a:off x="-1368909" y="3083315"/>
                <a:ext cx="601935" cy="521233"/>
              </a:xfrm>
              <a:custGeom>
                <a:avLst/>
                <a:gdLst/>
                <a:ahLst/>
                <a:cxnLst/>
                <a:rect l="l" t="t" r="r" b="b"/>
                <a:pathLst>
                  <a:path w="15186" h="13150" extrusionOk="0">
                    <a:moveTo>
                      <a:pt x="3796" y="1"/>
                    </a:moveTo>
                    <a:lnTo>
                      <a:pt x="0" y="6577"/>
                    </a:lnTo>
                    <a:lnTo>
                      <a:pt x="3796" y="13150"/>
                    </a:lnTo>
                    <a:lnTo>
                      <a:pt x="11389" y="13150"/>
                    </a:lnTo>
                    <a:lnTo>
                      <a:pt x="15185" y="6577"/>
                    </a:lnTo>
                    <a:lnTo>
                      <a:pt x="11389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4"/>
              <p:cNvSpPr/>
              <p:nvPr/>
            </p:nvSpPr>
            <p:spPr>
              <a:xfrm>
                <a:off x="-2256673" y="3342504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38" y="1"/>
                    </a:moveTo>
                    <a:lnTo>
                      <a:pt x="0" y="4048"/>
                    </a:lnTo>
                    <a:lnTo>
                      <a:pt x="2338" y="8096"/>
                    </a:lnTo>
                    <a:lnTo>
                      <a:pt x="7013" y="8096"/>
                    </a:lnTo>
                    <a:lnTo>
                      <a:pt x="9349" y="4048"/>
                    </a:lnTo>
                    <a:lnTo>
                      <a:pt x="7013" y="1"/>
                    </a:lnTo>
                    <a:close/>
                  </a:path>
                </a:pathLst>
              </a:custGeom>
              <a:solidFill>
                <a:schemeClr val="accent3">
                  <a:alpha val="58859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4"/>
              <p:cNvSpPr/>
              <p:nvPr/>
            </p:nvSpPr>
            <p:spPr>
              <a:xfrm>
                <a:off x="-1828309" y="1581730"/>
                <a:ext cx="370611" cy="320905"/>
              </a:xfrm>
              <a:custGeom>
                <a:avLst/>
                <a:gdLst/>
                <a:ahLst/>
                <a:cxnLst/>
                <a:rect l="l" t="t" r="r" b="b"/>
                <a:pathLst>
                  <a:path w="9350" h="8096" extrusionOk="0">
                    <a:moveTo>
                      <a:pt x="2340" y="0"/>
                    </a:moveTo>
                    <a:lnTo>
                      <a:pt x="0" y="4048"/>
                    </a:lnTo>
                    <a:lnTo>
                      <a:pt x="2340" y="8096"/>
                    </a:lnTo>
                    <a:lnTo>
                      <a:pt x="7013" y="8096"/>
                    </a:lnTo>
                    <a:lnTo>
                      <a:pt x="9350" y="4048"/>
                    </a:lnTo>
                    <a:lnTo>
                      <a:pt x="7013" y="0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4"/>
              <p:cNvSpPr/>
              <p:nvPr/>
            </p:nvSpPr>
            <p:spPr>
              <a:xfrm>
                <a:off x="-876451" y="2232220"/>
                <a:ext cx="601895" cy="521312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52" extrusionOk="0">
                    <a:moveTo>
                      <a:pt x="3796" y="1"/>
                    </a:moveTo>
                    <a:lnTo>
                      <a:pt x="0" y="6576"/>
                    </a:lnTo>
                    <a:lnTo>
                      <a:pt x="3796" y="13151"/>
                    </a:lnTo>
                    <a:lnTo>
                      <a:pt x="11388" y="13151"/>
                    </a:lnTo>
                    <a:lnTo>
                      <a:pt x="15185" y="6576"/>
                    </a:lnTo>
                    <a:lnTo>
                      <a:pt x="11388" y="1"/>
                    </a:lnTo>
                    <a:close/>
                  </a:path>
                </a:pathLst>
              </a:custGeom>
              <a:solidFill>
                <a:schemeClr val="accent3">
                  <a:alpha val="215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4"/>
              <p:cNvSpPr/>
              <p:nvPr/>
            </p:nvSpPr>
            <p:spPr>
              <a:xfrm>
                <a:off x="-876451" y="3367079"/>
                <a:ext cx="601895" cy="521193"/>
              </a:xfrm>
              <a:custGeom>
                <a:avLst/>
                <a:gdLst/>
                <a:ahLst/>
                <a:cxnLst/>
                <a:rect l="l" t="t" r="r" b="b"/>
                <a:pathLst>
                  <a:path w="15185" h="13149" extrusionOk="0">
                    <a:moveTo>
                      <a:pt x="3796" y="0"/>
                    </a:moveTo>
                    <a:lnTo>
                      <a:pt x="0" y="6573"/>
                    </a:lnTo>
                    <a:lnTo>
                      <a:pt x="3796" y="13148"/>
                    </a:lnTo>
                    <a:lnTo>
                      <a:pt x="11388" y="13148"/>
                    </a:lnTo>
                    <a:lnTo>
                      <a:pt x="15185" y="6573"/>
                    </a:lnTo>
                    <a:lnTo>
                      <a:pt x="1138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4"/>
            <p:cNvGrpSpPr/>
            <p:nvPr/>
          </p:nvGrpSpPr>
          <p:grpSpPr>
            <a:xfrm>
              <a:off x="5370950" y="1628700"/>
              <a:ext cx="3268225" cy="2975295"/>
              <a:chOff x="313175" y="1628700"/>
              <a:chExt cx="3268225" cy="2975295"/>
            </a:xfrm>
          </p:grpSpPr>
          <p:pic>
            <p:nvPicPr>
              <p:cNvPr id="592" name="Google Shape;592;p34"/>
              <p:cNvPicPr preferRelativeResize="0"/>
              <p:nvPr/>
            </p:nvPicPr>
            <p:blipFill rotWithShape="1">
              <a:blip r:embed="rId2">
                <a:alphaModFix/>
              </a:blip>
              <a:srcRect l="18116" t="10280" r="18116" b="10272"/>
              <a:stretch/>
            </p:blipFill>
            <p:spPr>
              <a:xfrm flipH="1">
                <a:off x="2281150" y="2573000"/>
                <a:ext cx="1300250" cy="162000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sp>
            <p:nvSpPr>
              <p:cNvPr id="593" name="Google Shape;593;p34"/>
              <p:cNvSpPr/>
              <p:nvPr/>
            </p:nvSpPr>
            <p:spPr>
              <a:xfrm>
                <a:off x="313175" y="4192995"/>
                <a:ext cx="2704200" cy="411000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594" name="Google Shape;594;p34"/>
              <p:cNvPicPr preferRelativeResize="0"/>
              <p:nvPr/>
            </p:nvPicPr>
            <p:blipFill rotWithShape="1">
              <a:blip r:embed="rId3">
                <a:alphaModFix/>
              </a:blip>
              <a:srcRect l="16325" t="10721" r="16325" b="13509"/>
              <a:stretch/>
            </p:blipFill>
            <p:spPr>
              <a:xfrm>
                <a:off x="407975" y="1628700"/>
                <a:ext cx="2514599" cy="2828925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estrial"/>
              <a:buNone/>
              <a:defRPr sz="33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Questrial"/>
              <a:buNone/>
              <a:defRPr sz="35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lbert Sans"/>
              <a:buChar char="⬣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8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9"/>
          <p:cNvSpPr txBox="1">
            <a:spLocks noGrp="1"/>
          </p:cNvSpPr>
          <p:nvPr>
            <p:ph type="ctrTitle"/>
          </p:nvPr>
        </p:nvSpPr>
        <p:spPr>
          <a:xfrm>
            <a:off x="275441" y="1079572"/>
            <a:ext cx="7001499" cy="230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sr-Latn-RS" sz="3600" dirty="0"/>
              <a:t>Predviđanje afiniteta vezivanja inhibitora humanog tripsina primenom višestruke regresione analize i transfer learning pristupa</a:t>
            </a:r>
            <a:endParaRPr lang="en-GB" sz="3600" dirty="0"/>
          </a:p>
        </p:txBody>
      </p:sp>
      <p:sp>
        <p:nvSpPr>
          <p:cNvPr id="611" name="Google Shape;611;p39"/>
          <p:cNvSpPr txBox="1">
            <a:spLocks noGrp="1"/>
          </p:cNvSpPr>
          <p:nvPr>
            <p:ph type="subTitle" idx="1"/>
          </p:nvPr>
        </p:nvSpPr>
        <p:spPr>
          <a:xfrm>
            <a:off x="1111461" y="3368901"/>
            <a:ext cx="47082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dirty="0" smtClean="0"/>
              <a:t>Jankovć Aleksandra SV12/2024</a:t>
            </a:r>
            <a:endParaRPr dirty="0"/>
          </a:p>
        </p:txBody>
      </p:sp>
      <p:grpSp>
        <p:nvGrpSpPr>
          <p:cNvPr id="26" name="Google Shape;1545;p75"/>
          <p:cNvGrpSpPr/>
          <p:nvPr/>
        </p:nvGrpSpPr>
        <p:grpSpPr>
          <a:xfrm>
            <a:off x="6761220" y="3016852"/>
            <a:ext cx="2309361" cy="1959578"/>
            <a:chOff x="3729441" y="3019375"/>
            <a:chExt cx="1727149" cy="1584675"/>
          </a:xfrm>
        </p:grpSpPr>
        <p:sp>
          <p:nvSpPr>
            <p:cNvPr id="27" name="Google Shape;1546;p75"/>
            <p:cNvSpPr/>
            <p:nvPr/>
          </p:nvSpPr>
          <p:spPr>
            <a:xfrm>
              <a:off x="4066650" y="4292950"/>
              <a:ext cx="1206600" cy="311100"/>
            </a:xfrm>
            <a:prstGeom prst="ellipse">
              <a:avLst/>
            </a:prstGeom>
            <a:solidFill>
              <a:schemeClr val="dk1">
                <a:alpha val="177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8" name="Google Shape;1547;p75"/>
            <p:cNvPicPr preferRelativeResize="0"/>
            <p:nvPr/>
          </p:nvPicPr>
          <p:blipFill rotWithShape="1">
            <a:blip r:embed="rId3">
              <a:alphaModFix/>
            </a:blip>
            <a:srcRect l="6385" t="13235" r="6385" b="13235"/>
            <a:stretch/>
          </p:blipFill>
          <p:spPr>
            <a:xfrm>
              <a:off x="3729441" y="3019375"/>
              <a:ext cx="1727149" cy="145582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sr-Latn-RS" sz="3600" dirty="0" smtClean="0"/>
              <a:t>Opis problema</a:t>
            </a:r>
            <a:endParaRPr lang="en-GB" sz="3600" dirty="0"/>
          </a:p>
        </p:txBody>
      </p:sp>
      <p:sp>
        <p:nvSpPr>
          <p:cNvPr id="3" name="Google Shape;96;p7"/>
          <p:cNvSpPr txBox="1">
            <a:spLocks noGrp="1"/>
          </p:cNvSpPr>
          <p:nvPr>
            <p:ph type="subTitle" idx="1"/>
          </p:nvPr>
        </p:nvSpPr>
        <p:spPr>
          <a:xfrm>
            <a:off x="666603" y="1708661"/>
            <a:ext cx="4332561" cy="2669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lbert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sr-Latn-RS" sz="1600" dirty="0" smtClean="0"/>
              <a:t>Humani tripsin ima ključnu ulogu u varenju proteina</a:t>
            </a:r>
          </a:p>
          <a:p>
            <a:r>
              <a:rPr lang="sr-Latn-RS" sz="1600" dirty="0" smtClean="0"/>
              <a:t>Inhibitori tripsina</a:t>
            </a:r>
          </a:p>
          <a:p>
            <a:r>
              <a:rPr lang="sr-Latn-RS" sz="1600" dirty="0" smtClean="0"/>
              <a:t>Eksperimentalno merenje afiniteta vezivanja je skupo i sporo</a:t>
            </a:r>
          </a:p>
          <a:p>
            <a:r>
              <a:rPr lang="sr-Latn-RS" sz="1600" b="1" dirty="0" smtClean="0"/>
              <a:t>Cilj</a:t>
            </a:r>
            <a:r>
              <a:rPr lang="sr-Latn-RS" sz="1600" dirty="0" smtClean="0"/>
              <a:t>: Razviti računarski model koji brzo i pouzdano predviđa koliko dobro se molekul vezuje za tripsin</a:t>
            </a:r>
          </a:p>
          <a:p>
            <a:endParaRPr dirty="0"/>
          </a:p>
        </p:txBody>
      </p:sp>
      <p:pic>
        <p:nvPicPr>
          <p:cNvPr id="1026" name="Picture 2" descr="Basic Structure of Enzymes by X-ray Crystallography - Biology No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2542" y="1811191"/>
            <a:ext cx="3294947" cy="1969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14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sr-Latn-RS" dirty="0" smtClean="0"/>
              <a:t>Transfer learning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3209" y="1693624"/>
            <a:ext cx="5000006" cy="2951794"/>
          </a:xfrm>
        </p:spPr>
        <p:txBody>
          <a:bodyPr/>
          <a:lstStyle/>
          <a:p>
            <a:r>
              <a:rPr lang="sr-Latn-RS" sz="1600" dirty="0" smtClean="0"/>
              <a:t>Humani tripsin: ~1500 dostupnih eksperimentalnih merenja</a:t>
            </a:r>
          </a:p>
          <a:p>
            <a:r>
              <a:rPr lang="sr-Latn-RS" sz="1600" dirty="0" smtClean="0"/>
              <a:t>Kravlji tripsin: ~1000 merenja</a:t>
            </a:r>
          </a:p>
          <a:p>
            <a:r>
              <a:rPr lang="sr-Latn-RS" sz="1600" dirty="0" smtClean="0"/>
              <a:t>Njihova međusobna sličnost: ~80%</a:t>
            </a:r>
          </a:p>
          <a:p>
            <a:r>
              <a:rPr lang="sr-Latn-RS" sz="1600" dirty="0" smtClean="0"/>
              <a:t>Ideja transfer learninga podrazumeva treniranje na kravljim podacima, pa fine-tune na humanim</a:t>
            </a:r>
          </a:p>
          <a:p>
            <a:r>
              <a:rPr lang="sr-Latn-RS" sz="1600" dirty="0" smtClean="0"/>
              <a:t>Glavno pitanje:</a:t>
            </a:r>
          </a:p>
          <a:p>
            <a:pPr marL="139700" indent="0">
              <a:buNone/>
            </a:pPr>
            <a:r>
              <a:rPr lang="sr-Latn-RS" sz="1600" dirty="0" smtClean="0"/>
              <a:t>            - Da li transfer learning poboljšava predikcije?</a:t>
            </a:r>
          </a:p>
          <a:p>
            <a:pPr marL="139700" indent="0">
              <a:buNone/>
            </a:pPr>
            <a:r>
              <a:rPr lang="sr-Latn-RS" dirty="0"/>
              <a:t> </a:t>
            </a:r>
            <a:r>
              <a:rPr lang="sr-Latn-RS" dirty="0" smtClean="0"/>
              <a:t>  </a:t>
            </a:r>
            <a:endParaRPr lang="sr-Latn-R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021" y="616960"/>
            <a:ext cx="4090140" cy="21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50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Skup podataka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1299833"/>
            <a:ext cx="6648596" cy="2298300"/>
          </a:xfrm>
        </p:spPr>
        <p:txBody>
          <a:bodyPr/>
          <a:lstStyle/>
          <a:p>
            <a:r>
              <a:rPr lang="sr-Latn-RS" dirty="0" smtClean="0"/>
              <a:t>Ki predstavlja inhibitorsku konstantu, što je manja, to je inhibitor bolji</a:t>
            </a:r>
          </a:p>
          <a:p>
            <a:r>
              <a:rPr lang="sr-Latn-RS" dirty="0" smtClean="0"/>
              <a:t>pKi je linearna skala, što je veći, to je vezivanje jače</a:t>
            </a:r>
          </a:p>
          <a:p>
            <a:r>
              <a:rPr lang="sr-Latn-RS" dirty="0" smtClean="0"/>
              <a:t>pKi = -log</a:t>
            </a:r>
            <a:r>
              <a:rPr lang="sr-Latn-RS" sz="1000" dirty="0" smtClean="0"/>
              <a:t>10</a:t>
            </a:r>
            <a:r>
              <a:rPr lang="sr-Latn-RS" dirty="0" smtClean="0"/>
              <a:t>(Ki)</a:t>
            </a:r>
          </a:p>
          <a:p>
            <a:r>
              <a:rPr lang="sr-Latn-RS" dirty="0" smtClean="0"/>
              <a:t>Ciljna promenljiva: pKi</a:t>
            </a:r>
          </a:p>
          <a:p>
            <a:pPr marL="139700" indent="0">
              <a:buNone/>
            </a:pPr>
            <a:endParaRPr lang="sr-Latn-RS" dirty="0" smtClean="0"/>
          </a:p>
          <a:p>
            <a:pPr marL="139700" indent="0">
              <a:buNone/>
            </a:pPr>
            <a:r>
              <a:rPr lang="sr-Latn-RS" dirty="0" smtClean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857902"/>
              </p:ext>
            </p:extLst>
          </p:nvPr>
        </p:nvGraphicFramePr>
        <p:xfrm>
          <a:off x="1272595" y="2636409"/>
          <a:ext cx="6349629" cy="196896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116543">
                  <a:extLst>
                    <a:ext uri="{9D8B030D-6E8A-4147-A177-3AD203B41FA5}">
                      <a16:colId xmlns:a16="http://schemas.microsoft.com/office/drawing/2014/main" val="2175472566"/>
                    </a:ext>
                  </a:extLst>
                </a:gridCol>
                <a:gridCol w="2223915">
                  <a:extLst>
                    <a:ext uri="{9D8B030D-6E8A-4147-A177-3AD203B41FA5}">
                      <a16:colId xmlns:a16="http://schemas.microsoft.com/office/drawing/2014/main" val="2966210982"/>
                    </a:ext>
                  </a:extLst>
                </a:gridCol>
                <a:gridCol w="2009171">
                  <a:extLst>
                    <a:ext uri="{9D8B030D-6E8A-4147-A177-3AD203B41FA5}">
                      <a16:colId xmlns:a16="http://schemas.microsoft.com/office/drawing/2014/main" val="865498131"/>
                    </a:ext>
                  </a:extLst>
                </a:gridCol>
              </a:tblGrid>
              <a:tr h="386821"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Izvor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Vrsta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Broj molekula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296301"/>
                  </a:ext>
                </a:extLst>
              </a:tr>
              <a:tr h="386821">
                <a:tc>
                  <a:txBody>
                    <a:bodyPr/>
                    <a:lstStyle/>
                    <a:p>
                      <a:r>
                        <a:rPr lang="sr-Latn-RS" dirty="0" smtClean="0"/>
                        <a:t>ChEMBL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 smtClean="0"/>
                        <a:t>Humani tripsin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~1500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531706"/>
                  </a:ext>
                </a:extLst>
              </a:tr>
              <a:tr h="386821">
                <a:tc>
                  <a:txBody>
                    <a:bodyPr/>
                    <a:lstStyle/>
                    <a:p>
                      <a:r>
                        <a:rPr lang="sr-Latn-RS" dirty="0" smtClean="0"/>
                        <a:t>ChEMBL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 smtClean="0"/>
                        <a:t>Goveđi tripsin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~1000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741240"/>
                  </a:ext>
                </a:extLst>
              </a:tr>
              <a:tr h="386821">
                <a:tc>
                  <a:txBody>
                    <a:bodyPr/>
                    <a:lstStyle/>
                    <a:p>
                      <a:r>
                        <a:rPr lang="sr-Latn-RS" dirty="0" smtClean="0"/>
                        <a:t>AutoDock</a:t>
                      </a:r>
                      <a:r>
                        <a:rPr lang="sr-Latn-RS" baseline="0" dirty="0" smtClean="0"/>
                        <a:t> Vina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 smtClean="0"/>
                        <a:t>Docking podaci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~70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653665"/>
                  </a:ext>
                </a:extLst>
              </a:tr>
              <a:tr h="421679">
                <a:tc>
                  <a:txBody>
                    <a:bodyPr/>
                    <a:lstStyle/>
                    <a:p>
                      <a:r>
                        <a:rPr lang="sr-Latn-RS" dirty="0" smtClean="0"/>
                        <a:t>IS Petnica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dirty="0" smtClean="0"/>
                        <a:t>Derivati</a:t>
                      </a:r>
                      <a:r>
                        <a:rPr lang="sr-Latn-RS" baseline="0" dirty="0" smtClean="0"/>
                        <a:t> cimetne kiseline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sz="1600" dirty="0" smtClean="0"/>
                        <a:t>2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326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3559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Molekulski deskriptori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3769" y="1334891"/>
            <a:ext cx="5005839" cy="3317201"/>
          </a:xfrm>
        </p:spPr>
        <p:txBody>
          <a:bodyPr/>
          <a:lstStyle/>
          <a:p>
            <a:r>
              <a:rPr lang="sr-Latn-RS" sz="1600" dirty="0" smtClean="0"/>
              <a:t>Svaki molekul je određen SMILES (</a:t>
            </a:r>
            <a:r>
              <a:rPr lang="en-GB" sz="1600" dirty="0"/>
              <a:t>Simplified Molecular Input Line Entry </a:t>
            </a:r>
            <a:r>
              <a:rPr lang="en-GB" sz="1600" dirty="0" smtClean="0"/>
              <a:t>System</a:t>
            </a:r>
            <a:r>
              <a:rPr lang="sr-Latn-RS" sz="1600" dirty="0" smtClean="0"/>
              <a:t>) stringom</a:t>
            </a:r>
          </a:p>
          <a:p>
            <a:r>
              <a:rPr lang="sr-Latn-RS" sz="1600" dirty="0" smtClean="0"/>
              <a:t>Pomoću RDKit biblioteke, iz SMILES izračunavaju se:</a:t>
            </a:r>
            <a:endParaRPr lang="sr-Latn-RS" sz="1600" dirty="0"/>
          </a:p>
          <a:p>
            <a:pPr marL="139700" indent="0">
              <a:buNone/>
            </a:pPr>
            <a:r>
              <a:rPr lang="sr-Latn-RS" sz="1600" dirty="0" smtClean="0"/>
              <a:t> 	1. 2D deskriptori (208), predstavljaju fizičko-hemijska svojstva</a:t>
            </a:r>
          </a:p>
          <a:p>
            <a:pPr marL="139700" indent="0">
              <a:buNone/>
            </a:pPr>
            <a:r>
              <a:rPr lang="sr-Latn-RS" sz="1600" dirty="0"/>
              <a:t>	</a:t>
            </a:r>
            <a:r>
              <a:rPr lang="sr-Latn-RS" sz="1600" dirty="0" smtClean="0"/>
              <a:t>2. Morganovi fingerprintovi (2048) bita, predstvalja binarni vektor koji kodira prisustvo specifičnih podstruktura</a:t>
            </a:r>
          </a:p>
          <a:p>
            <a:r>
              <a:rPr lang="sr-Latn-RS" sz="1600" dirty="0" smtClean="0"/>
              <a:t>Ukupno 2256 numeričkih vrednosti po molekulu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325" y="439645"/>
            <a:ext cx="3351045" cy="2076624"/>
          </a:xfrm>
          <a:prstGeom prst="rect">
            <a:avLst/>
          </a:prstGeom>
        </p:spPr>
      </p:pic>
      <p:pic>
        <p:nvPicPr>
          <p:cNvPr id="2052" name="Picture 4" descr="RDKit - 인코덤, 생물정보 전문위키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683" y="2749874"/>
            <a:ext cx="3357688" cy="1757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9354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Problem visoke dimenzionalnosti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3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Modeli i scenariji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89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Rezultati – poređenje modela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797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Rezultati – transfer efikasnost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4401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SHAP analiza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877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Model vs molekulski doking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079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Derivati cimetne kiseline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01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GUI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2356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GUI – Procena kompatibilnosti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32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Zaključak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356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99977" y="1847097"/>
            <a:ext cx="7704000" cy="5727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sr-Latn-RS" sz="5400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Questrial"/>
                <a:ea typeface="Questrial"/>
                <a:cs typeface="Questrial"/>
                <a:sym typeface="Questrial"/>
              </a:rPr>
              <a:t>HVALA NA PAŽNJI!</a:t>
            </a:r>
            <a:endParaRPr lang="en-GB" sz="5400" b="1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Questrial"/>
              <a:ea typeface="Questrial"/>
              <a:cs typeface="Questrial"/>
              <a:sym typeface="Questrial"/>
            </a:endParaRPr>
          </a:p>
        </p:txBody>
      </p:sp>
      <p:grpSp>
        <p:nvGrpSpPr>
          <p:cNvPr id="5" name="Google Shape;722;p45"/>
          <p:cNvGrpSpPr/>
          <p:nvPr/>
        </p:nvGrpSpPr>
        <p:grpSpPr>
          <a:xfrm>
            <a:off x="7361921" y="3116969"/>
            <a:ext cx="1612900" cy="1591390"/>
            <a:chOff x="5320431" y="1053232"/>
            <a:chExt cx="3020316" cy="3550769"/>
          </a:xfrm>
        </p:grpSpPr>
        <p:grpSp>
          <p:nvGrpSpPr>
            <p:cNvPr id="6" name="Google Shape;723;p45"/>
            <p:cNvGrpSpPr/>
            <p:nvPr/>
          </p:nvGrpSpPr>
          <p:grpSpPr>
            <a:xfrm>
              <a:off x="5534030" y="2157500"/>
              <a:ext cx="2806717" cy="2446501"/>
              <a:chOff x="5534030" y="2157500"/>
              <a:chExt cx="2806717" cy="2446501"/>
            </a:xfrm>
          </p:grpSpPr>
          <p:sp>
            <p:nvSpPr>
              <p:cNvPr id="8" name="Google Shape;724;p45"/>
              <p:cNvSpPr/>
              <p:nvPr/>
            </p:nvSpPr>
            <p:spPr>
              <a:xfrm>
                <a:off x="5534030" y="3982487"/>
                <a:ext cx="2333627" cy="621514"/>
              </a:xfrm>
              <a:prstGeom prst="ellipse">
                <a:avLst/>
              </a:prstGeom>
              <a:solidFill>
                <a:schemeClr val="dk1">
                  <a:alpha val="177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9" name="Google Shape;725;p45"/>
              <p:cNvPicPr preferRelativeResize="0"/>
              <p:nvPr/>
            </p:nvPicPr>
            <p:blipFill rotWithShape="1">
              <a:blip r:embed="rId2">
                <a:alphaModFix/>
              </a:blip>
              <a:srcRect l="24700" t="9362" r="24695" b="9370"/>
              <a:stretch/>
            </p:blipFill>
            <p:spPr>
              <a:xfrm>
                <a:off x="5985274" y="2157500"/>
                <a:ext cx="1431132" cy="2298299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  <p:pic>
            <p:nvPicPr>
              <p:cNvPr id="10" name="Google Shape;726;p45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2430956">
                <a:off x="7260757" y="2401296"/>
                <a:ext cx="896305" cy="896308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</p:pic>
        </p:grpSp>
        <p:pic>
          <p:nvPicPr>
            <p:cNvPr id="7" name="Google Shape;727;p45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-1709737">
              <a:off x="5534025" y="1266826"/>
              <a:ext cx="1200149" cy="1200149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2303922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chemistry and Biomolecules - Science - 9th grade by Slidesgo">
  <a:themeElements>
    <a:clrScheme name="Simple Light">
      <a:dk1>
        <a:srgbClr val="383030"/>
      </a:dk1>
      <a:lt1>
        <a:srgbClr val="E7D9E6"/>
      </a:lt1>
      <a:dk2>
        <a:srgbClr val="FEFEFE"/>
      </a:dk2>
      <a:lt2>
        <a:srgbClr val="F7F2E9"/>
      </a:lt2>
      <a:accent1>
        <a:srgbClr val="A1A48F"/>
      </a:accent1>
      <a:accent2>
        <a:srgbClr val="5A6B47"/>
      </a:accent2>
      <a:accent3>
        <a:srgbClr val="460130"/>
      </a:accent3>
      <a:accent4>
        <a:srgbClr val="5E85BC"/>
      </a:accent4>
      <a:accent5>
        <a:srgbClr val="848B9E"/>
      </a:accent5>
      <a:accent6>
        <a:srgbClr val="FFFFFF"/>
      </a:accent6>
      <a:hlink>
        <a:srgbClr val="55565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226</Words>
  <Application>Microsoft Office PowerPoint</Application>
  <PresentationFormat>On-screen Show (16:9)</PresentationFormat>
  <Paragraphs>54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Questrial</vt:lpstr>
      <vt:lpstr>Nunito Light</vt:lpstr>
      <vt:lpstr>Albert Sans</vt:lpstr>
      <vt:lpstr>Albert Sans Light</vt:lpstr>
      <vt:lpstr>Biochemistry and Biomolecules - Science - 9th grade by Slidesgo</vt:lpstr>
      <vt:lpstr>Predviđanje afiniteta vezivanja inhibitora humanog tripsina primenom višestruke regresione analize i transfer learning pristupa</vt:lpstr>
      <vt:lpstr>Opis problema</vt:lpstr>
      <vt:lpstr>Transfer learning</vt:lpstr>
      <vt:lpstr>Skup podataka</vt:lpstr>
      <vt:lpstr>Molekulski deskriptori</vt:lpstr>
      <vt:lpstr>Problem visoke dimenzionalnosti</vt:lpstr>
      <vt:lpstr>Modeli i scenariji</vt:lpstr>
      <vt:lpstr>Rezultati – poređenje modela</vt:lpstr>
      <vt:lpstr>Rezultati – transfer efikasnost</vt:lpstr>
      <vt:lpstr>SHAP analiza</vt:lpstr>
      <vt:lpstr>Model vs molekulski doking</vt:lpstr>
      <vt:lpstr>Derivati cimetne kiseline</vt:lpstr>
      <vt:lpstr>GUI</vt:lpstr>
      <vt:lpstr>GUI – Procena kompatibilnosti</vt:lpstr>
      <vt:lpstr>Zaključak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Predviđanje afiniteta vezivanja inhibitora humanog tripsina primenom višestruke regresione analize i transfer learning pristupa</dc:title>
  <dc:creator>Daisy</dc:creator>
  <cp:lastModifiedBy>Daisy</cp:lastModifiedBy>
  <cp:revision>8</cp:revision>
  <dcterms:modified xsi:type="dcterms:W3CDTF">2026-02-27T22:54:30Z</dcterms:modified>
</cp:coreProperties>
</file>