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22"/>
  </p:notesMasterIdLst>
  <p:sldIdLst>
    <p:sldId id="256" r:id="rId2"/>
    <p:sldId id="319" r:id="rId3"/>
    <p:sldId id="320" r:id="rId4"/>
    <p:sldId id="321" r:id="rId5"/>
    <p:sldId id="333" r:id="rId6"/>
    <p:sldId id="322" r:id="rId7"/>
    <p:sldId id="334" r:id="rId8"/>
    <p:sldId id="323" r:id="rId9"/>
    <p:sldId id="335" r:id="rId10"/>
    <p:sldId id="336" r:id="rId11"/>
    <p:sldId id="325" r:id="rId12"/>
    <p:sldId id="326" r:id="rId13"/>
    <p:sldId id="337" r:id="rId14"/>
    <p:sldId id="338" r:id="rId15"/>
    <p:sldId id="327" r:id="rId16"/>
    <p:sldId id="328" r:id="rId17"/>
    <p:sldId id="329" r:id="rId18"/>
    <p:sldId id="339" r:id="rId19"/>
    <p:sldId id="330" r:id="rId20"/>
    <p:sldId id="332" r:id="rId21"/>
  </p:sldIdLst>
  <p:sldSz cx="9144000" cy="5143500" type="screen16x9"/>
  <p:notesSz cx="6858000" cy="9144000"/>
  <p:embeddedFontLst>
    <p:embeddedFont>
      <p:font typeface="Questrial" panose="020B0604020202020204" charset="0"/>
      <p:regular r:id="rId23"/>
    </p:embeddedFont>
    <p:embeddedFont>
      <p:font typeface="Albert Sa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B7C866-A640-4CF6-963C-3A26AF1A4B5B}">
  <a:tblStyle styleId="{1CB7C866-A640-4CF6-963C-3A26AF1A4B5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EBAF358-9631-44EE-9ABA-FE9C3D04DBA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2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E85DB82-0A5A-4664-991F-3EE0C0585002}" type="doc">
      <dgm:prSet loTypeId="urn:microsoft.com/office/officeart/2011/layout/TabList" loCatId="list" qsTypeId="urn:microsoft.com/office/officeart/2005/8/quickstyle/simple1" qsCatId="simple" csTypeId="urn:microsoft.com/office/officeart/2005/8/colors/accent3_5" csCatId="accent3" phldr="1"/>
      <dgm:spPr/>
      <dgm:t>
        <a:bodyPr/>
        <a:lstStyle/>
        <a:p>
          <a:endParaRPr lang="en-US"/>
        </a:p>
      </dgm:t>
    </dgm:pt>
    <dgm:pt modelId="{34CCA8B3-5497-4C05-B3EF-2218444D9B1F}">
      <dgm:prSet phldrT="[Text]"/>
      <dgm:spPr/>
      <dgm:t>
        <a:bodyPr/>
        <a:lstStyle/>
        <a:p>
          <a:r>
            <a:rPr lang="sr-Latn-RS" dirty="0" smtClean="0"/>
            <a:t>1.</a:t>
          </a:r>
          <a:endParaRPr lang="en-US" dirty="0"/>
        </a:p>
      </dgm:t>
    </dgm:pt>
    <dgm:pt modelId="{05CEE680-58EB-4F15-AA7B-4AB218051155}" type="parTrans" cxnId="{38B044E4-3330-4462-A1AB-638DD581336F}">
      <dgm:prSet/>
      <dgm:spPr/>
      <dgm:t>
        <a:bodyPr/>
        <a:lstStyle/>
        <a:p>
          <a:endParaRPr lang="en-US"/>
        </a:p>
      </dgm:t>
    </dgm:pt>
    <dgm:pt modelId="{ECE35D75-161C-4F2D-B94E-554A23E0DF6F}" type="sibTrans" cxnId="{38B044E4-3330-4462-A1AB-638DD581336F}">
      <dgm:prSet/>
      <dgm:spPr/>
      <dgm:t>
        <a:bodyPr/>
        <a:lstStyle/>
        <a:p>
          <a:endParaRPr lang="en-US"/>
        </a:p>
      </dgm:t>
    </dgm:pt>
    <dgm:pt modelId="{685E50CC-D0C4-46E7-8A06-EA5A709EC4FD}">
      <dgm:prSet phldrT="[Text]" custT="1"/>
      <dgm:spPr/>
      <dgm:t>
        <a:bodyPr/>
        <a:lstStyle/>
        <a:p>
          <a:r>
            <a:rPr lang="sr-Latn-RS" sz="1200" b="1" dirty="0" smtClean="0"/>
            <a:t>Uklanjanje karakteristika sa niskom varijansom</a:t>
          </a:r>
          <a:endParaRPr lang="en-US" sz="1200" b="1" dirty="0"/>
        </a:p>
      </dgm:t>
    </dgm:pt>
    <dgm:pt modelId="{B5CB5329-5AF8-4F92-822F-ACC86CCD13C5}" type="parTrans" cxnId="{80707B0C-BCDD-40C2-80B0-4ABE17D27FA6}">
      <dgm:prSet/>
      <dgm:spPr/>
      <dgm:t>
        <a:bodyPr/>
        <a:lstStyle/>
        <a:p>
          <a:endParaRPr lang="en-US"/>
        </a:p>
      </dgm:t>
    </dgm:pt>
    <dgm:pt modelId="{BB8E41C4-1756-4C05-97E4-B0109C9D155C}" type="sibTrans" cxnId="{80707B0C-BCDD-40C2-80B0-4ABE17D27FA6}">
      <dgm:prSet/>
      <dgm:spPr/>
      <dgm:t>
        <a:bodyPr/>
        <a:lstStyle/>
        <a:p>
          <a:endParaRPr lang="en-US"/>
        </a:p>
      </dgm:t>
    </dgm:pt>
    <dgm:pt modelId="{318F9EB4-8EB4-4FD6-9CF2-1AF58C91CF4A}">
      <dgm:prSet phldrT="[Text]" custT="1"/>
      <dgm:spPr/>
      <dgm:t>
        <a:bodyPr/>
        <a:lstStyle/>
        <a:p>
          <a:r>
            <a:rPr lang="sr-Latn-RS" sz="1100" dirty="0" smtClean="0"/>
            <a:t>Karakteristike koje se gotovo ne menjaju kroz skup podataka ne mogu biti korisne za predikciju, predstavljaju šum</a:t>
          </a:r>
          <a:endParaRPr lang="en-US" sz="1100" dirty="0"/>
        </a:p>
      </dgm:t>
    </dgm:pt>
    <dgm:pt modelId="{9B96E8F6-E40B-4786-A149-BEFFCECCB23F}" type="parTrans" cxnId="{AB273872-3B24-4C4A-B754-316CD5EC79CF}">
      <dgm:prSet/>
      <dgm:spPr/>
      <dgm:t>
        <a:bodyPr/>
        <a:lstStyle/>
        <a:p>
          <a:endParaRPr lang="en-US"/>
        </a:p>
      </dgm:t>
    </dgm:pt>
    <dgm:pt modelId="{833E2CE9-4EDB-415F-8962-F987937DF33D}" type="sibTrans" cxnId="{AB273872-3B24-4C4A-B754-316CD5EC79CF}">
      <dgm:prSet/>
      <dgm:spPr/>
      <dgm:t>
        <a:bodyPr/>
        <a:lstStyle/>
        <a:p>
          <a:endParaRPr lang="en-US"/>
        </a:p>
      </dgm:t>
    </dgm:pt>
    <dgm:pt modelId="{37570603-119C-4284-9BD9-45B0CD5DF827}">
      <dgm:prSet phldrT="[Text]"/>
      <dgm:spPr/>
      <dgm:t>
        <a:bodyPr/>
        <a:lstStyle/>
        <a:p>
          <a:r>
            <a:rPr lang="sr-Latn-RS" dirty="0" smtClean="0"/>
            <a:t>2.</a:t>
          </a:r>
          <a:endParaRPr lang="en-US" dirty="0"/>
        </a:p>
      </dgm:t>
    </dgm:pt>
    <dgm:pt modelId="{4E0DEBF3-0FAE-499F-A9B2-4DD1482D1CB7}" type="parTrans" cxnId="{F546A181-95EB-4619-AB86-92848EAF69EE}">
      <dgm:prSet/>
      <dgm:spPr/>
      <dgm:t>
        <a:bodyPr/>
        <a:lstStyle/>
        <a:p>
          <a:endParaRPr lang="en-US"/>
        </a:p>
      </dgm:t>
    </dgm:pt>
    <dgm:pt modelId="{3D3A4124-DC76-4AC3-A42B-49CE948AE3C1}" type="sibTrans" cxnId="{F546A181-95EB-4619-AB86-92848EAF69EE}">
      <dgm:prSet/>
      <dgm:spPr/>
      <dgm:t>
        <a:bodyPr/>
        <a:lstStyle/>
        <a:p>
          <a:endParaRPr lang="en-US"/>
        </a:p>
      </dgm:t>
    </dgm:pt>
    <dgm:pt modelId="{C492C268-CE9B-4775-AB75-21802159D415}">
      <dgm:prSet phldrT="[Text]" custT="1"/>
      <dgm:spPr/>
      <dgm:t>
        <a:bodyPr/>
        <a:lstStyle/>
        <a:p>
          <a:r>
            <a:rPr lang="sr-Latn-RS" sz="1200" b="1" dirty="0" smtClean="0"/>
            <a:t>Uklanjanje visokokorelisanih parova</a:t>
          </a:r>
          <a:endParaRPr lang="en-US" sz="1200" b="1" dirty="0"/>
        </a:p>
      </dgm:t>
    </dgm:pt>
    <dgm:pt modelId="{C18B0511-005E-4379-B392-0CA73DAF3583}" type="parTrans" cxnId="{39266F3D-226E-4E60-9EEB-47DC5ED7A33A}">
      <dgm:prSet/>
      <dgm:spPr/>
      <dgm:t>
        <a:bodyPr/>
        <a:lstStyle/>
        <a:p>
          <a:endParaRPr lang="en-US"/>
        </a:p>
      </dgm:t>
    </dgm:pt>
    <dgm:pt modelId="{E100D2FE-0465-491C-B919-807D11B3E9FB}" type="sibTrans" cxnId="{39266F3D-226E-4E60-9EEB-47DC5ED7A33A}">
      <dgm:prSet/>
      <dgm:spPr/>
      <dgm:t>
        <a:bodyPr/>
        <a:lstStyle/>
        <a:p>
          <a:endParaRPr lang="en-US"/>
        </a:p>
      </dgm:t>
    </dgm:pt>
    <dgm:pt modelId="{6DDF566C-C327-4CA9-8F22-053D9405FB39}">
      <dgm:prSet phldrT="[Text]" custT="1"/>
      <dgm:spPr/>
      <dgm:t>
        <a:bodyPr/>
        <a:lstStyle/>
        <a:p>
          <a:r>
            <a:rPr lang="sr-Latn-RS" sz="1100" dirty="0" smtClean="0"/>
            <a:t>Multikolinearnost(dve karakteristike savršeno korelisane) otežava interpretaciju i smanjuje stabilnost modela</a:t>
          </a:r>
          <a:endParaRPr lang="en-US" sz="1100" dirty="0"/>
        </a:p>
      </dgm:t>
    </dgm:pt>
    <dgm:pt modelId="{883C1031-DFD7-4771-B8D9-0DE2DB4BA883}" type="parTrans" cxnId="{7FF13542-BE99-48C3-BC36-9EB67CBB249E}">
      <dgm:prSet/>
      <dgm:spPr/>
      <dgm:t>
        <a:bodyPr/>
        <a:lstStyle/>
        <a:p>
          <a:endParaRPr lang="en-US"/>
        </a:p>
      </dgm:t>
    </dgm:pt>
    <dgm:pt modelId="{754A9ABD-20A0-4A07-A45A-57C89D346943}" type="sibTrans" cxnId="{7FF13542-BE99-48C3-BC36-9EB67CBB249E}">
      <dgm:prSet/>
      <dgm:spPr/>
      <dgm:t>
        <a:bodyPr/>
        <a:lstStyle/>
        <a:p>
          <a:endParaRPr lang="en-US"/>
        </a:p>
      </dgm:t>
    </dgm:pt>
    <dgm:pt modelId="{A2F7B3E4-1A04-4E39-9B9E-655D70E54262}">
      <dgm:prSet phldrT="[Text]"/>
      <dgm:spPr/>
      <dgm:t>
        <a:bodyPr/>
        <a:lstStyle/>
        <a:p>
          <a:r>
            <a:rPr lang="sr-Latn-RS" dirty="0" smtClean="0"/>
            <a:t>3.</a:t>
          </a:r>
          <a:endParaRPr lang="en-US" dirty="0"/>
        </a:p>
      </dgm:t>
    </dgm:pt>
    <dgm:pt modelId="{C680E737-B752-452D-A8C5-D6CA064BD505}" type="parTrans" cxnId="{66709E33-156C-4738-AAEA-A924FD2514DE}">
      <dgm:prSet/>
      <dgm:spPr/>
      <dgm:t>
        <a:bodyPr/>
        <a:lstStyle/>
        <a:p>
          <a:endParaRPr lang="en-US"/>
        </a:p>
      </dgm:t>
    </dgm:pt>
    <dgm:pt modelId="{76D197F0-DFD0-4784-BDA3-0855E5090B6C}" type="sibTrans" cxnId="{66709E33-156C-4738-AAEA-A924FD2514DE}">
      <dgm:prSet/>
      <dgm:spPr/>
      <dgm:t>
        <a:bodyPr/>
        <a:lstStyle/>
        <a:p>
          <a:endParaRPr lang="en-US"/>
        </a:p>
      </dgm:t>
    </dgm:pt>
    <dgm:pt modelId="{C5CA0BCE-E008-47F0-9D10-40BF1F0BD503}">
      <dgm:prSet phldrT="[Text]" custT="1"/>
      <dgm:spPr/>
      <dgm:t>
        <a:bodyPr/>
        <a:lstStyle/>
        <a:p>
          <a:r>
            <a:rPr lang="sr-Latn-RS" sz="1200" b="1" dirty="0" smtClean="0"/>
            <a:t>Selekcija top 200 karakteristika</a:t>
          </a:r>
          <a:endParaRPr lang="en-US" sz="1200" b="1" dirty="0"/>
        </a:p>
      </dgm:t>
    </dgm:pt>
    <dgm:pt modelId="{18B4527C-02EE-4543-BA0C-3CFC6922CE28}" type="parTrans" cxnId="{A1F608DD-8C76-4B5C-96C5-DB5CC421DF98}">
      <dgm:prSet/>
      <dgm:spPr/>
      <dgm:t>
        <a:bodyPr/>
        <a:lstStyle/>
        <a:p>
          <a:endParaRPr lang="en-US"/>
        </a:p>
      </dgm:t>
    </dgm:pt>
    <dgm:pt modelId="{886BD27A-C79A-4D5E-9280-EB46AE23F230}" type="sibTrans" cxnId="{A1F608DD-8C76-4B5C-96C5-DB5CC421DF98}">
      <dgm:prSet/>
      <dgm:spPr/>
      <dgm:t>
        <a:bodyPr/>
        <a:lstStyle/>
        <a:p>
          <a:endParaRPr lang="en-US"/>
        </a:p>
      </dgm:t>
    </dgm:pt>
    <dgm:pt modelId="{13062411-9DBE-47D5-9172-A822B4356437}">
      <dgm:prSet phldrT="[Text]"/>
      <dgm:spPr/>
      <dgm:t>
        <a:bodyPr/>
        <a:lstStyle/>
        <a:p>
          <a:r>
            <a:rPr lang="sr-Latn-RS" dirty="0" smtClean="0"/>
            <a:t>4.</a:t>
          </a:r>
          <a:endParaRPr lang="en-US" dirty="0"/>
        </a:p>
      </dgm:t>
    </dgm:pt>
    <dgm:pt modelId="{14D4698A-6A94-4109-A5F2-920F7B01D2BA}" type="parTrans" cxnId="{BC7816FD-2965-4249-A7BD-C4986C6FB682}">
      <dgm:prSet/>
      <dgm:spPr/>
      <dgm:t>
        <a:bodyPr/>
        <a:lstStyle/>
        <a:p>
          <a:endParaRPr lang="en-US"/>
        </a:p>
      </dgm:t>
    </dgm:pt>
    <dgm:pt modelId="{FB00C96A-728E-4600-8DE3-CE4853209D28}" type="sibTrans" cxnId="{BC7816FD-2965-4249-A7BD-C4986C6FB682}">
      <dgm:prSet/>
      <dgm:spPr/>
      <dgm:t>
        <a:bodyPr/>
        <a:lstStyle/>
        <a:p>
          <a:endParaRPr lang="en-US"/>
        </a:p>
      </dgm:t>
    </dgm:pt>
    <dgm:pt modelId="{EED958BA-DE83-44BD-9099-50F023E7879B}">
      <dgm:prSet phldrT="[Text]" custT="1"/>
      <dgm:spPr/>
      <dgm:t>
        <a:bodyPr/>
        <a:lstStyle/>
        <a:p>
          <a:r>
            <a:rPr lang="sr-Latn-RS" sz="1100" dirty="0" smtClean="0"/>
            <a:t>Zadržavamo one karakteristike koje su najjače povezane sa ciljnom promenljivom pKi</a:t>
          </a:r>
          <a:endParaRPr lang="en-US" sz="1100" dirty="0"/>
        </a:p>
      </dgm:t>
    </dgm:pt>
    <dgm:pt modelId="{0FDC6BCF-2357-48A2-BF56-35B8ADF258D9}" type="parTrans" cxnId="{774FF241-DB13-4069-8AE8-5B437D004F8F}">
      <dgm:prSet/>
      <dgm:spPr/>
      <dgm:t>
        <a:bodyPr/>
        <a:lstStyle/>
        <a:p>
          <a:endParaRPr lang="en-US"/>
        </a:p>
      </dgm:t>
    </dgm:pt>
    <dgm:pt modelId="{D2F42C31-E681-453E-A0EA-11084AD7E550}" type="sibTrans" cxnId="{774FF241-DB13-4069-8AE8-5B437D004F8F}">
      <dgm:prSet/>
      <dgm:spPr/>
      <dgm:t>
        <a:bodyPr/>
        <a:lstStyle/>
        <a:p>
          <a:endParaRPr lang="en-US"/>
        </a:p>
      </dgm:t>
    </dgm:pt>
    <dgm:pt modelId="{D19763BC-30CF-4E2C-A356-E3CF9AC7630A}">
      <dgm:prSet custT="1"/>
      <dgm:spPr/>
      <dgm:t>
        <a:bodyPr/>
        <a:lstStyle/>
        <a:p>
          <a:r>
            <a:rPr lang="sr-Latn-RS" sz="1200" b="1" dirty="0" smtClean="0"/>
            <a:t>PCA (Principal Component Analysis)</a:t>
          </a:r>
          <a:endParaRPr lang="en-US" sz="1200" b="1" dirty="0"/>
        </a:p>
      </dgm:t>
    </dgm:pt>
    <dgm:pt modelId="{B6408CB4-A2E6-44B0-BF6B-EACFF3B7F3DD}" type="parTrans" cxnId="{FCE460F7-9FEE-4EA5-9715-FA9DE521B352}">
      <dgm:prSet/>
      <dgm:spPr/>
      <dgm:t>
        <a:bodyPr/>
        <a:lstStyle/>
        <a:p>
          <a:endParaRPr lang="en-US"/>
        </a:p>
      </dgm:t>
    </dgm:pt>
    <dgm:pt modelId="{D1868C77-D862-4528-9595-A7B1C29ABB6B}" type="sibTrans" cxnId="{FCE460F7-9FEE-4EA5-9715-FA9DE521B352}">
      <dgm:prSet/>
      <dgm:spPr/>
      <dgm:t>
        <a:bodyPr/>
        <a:lstStyle/>
        <a:p>
          <a:endParaRPr lang="en-US"/>
        </a:p>
      </dgm:t>
    </dgm:pt>
    <dgm:pt modelId="{A5BFAAC7-90E5-4A12-96B7-0A5F5E064845}">
      <dgm:prSet custT="1"/>
      <dgm:spPr/>
      <dgm:t>
        <a:bodyPr/>
        <a:lstStyle/>
        <a:p>
          <a:r>
            <a:rPr lang="sr-Latn-RS" sz="1100" dirty="0" smtClean="0"/>
            <a:t>Tehnika koja stvara nove karakteristike kao linearne kombinacije originalnih, pri čemu su one međusobno nekorelisane</a:t>
          </a:r>
          <a:endParaRPr lang="en-US" sz="1100" dirty="0"/>
        </a:p>
      </dgm:t>
    </dgm:pt>
    <dgm:pt modelId="{5D110C41-0A6D-49D5-A730-24939C337BC1}" type="parTrans" cxnId="{9848396D-D8EC-413D-9116-B45B927154BB}">
      <dgm:prSet/>
      <dgm:spPr/>
      <dgm:t>
        <a:bodyPr/>
        <a:lstStyle/>
        <a:p>
          <a:endParaRPr lang="en-US"/>
        </a:p>
      </dgm:t>
    </dgm:pt>
    <dgm:pt modelId="{9ED8FAEA-63C6-4BD7-B6D9-7B069AA188A4}" type="sibTrans" cxnId="{9848396D-D8EC-413D-9116-B45B927154BB}">
      <dgm:prSet/>
      <dgm:spPr/>
      <dgm:t>
        <a:bodyPr/>
        <a:lstStyle/>
        <a:p>
          <a:endParaRPr lang="en-US"/>
        </a:p>
      </dgm:t>
    </dgm:pt>
    <dgm:pt modelId="{680B0A9C-CB44-4B50-ABC2-AED7445462A7}">
      <dgm:prSet phldrT="[Text]" custT="1"/>
      <dgm:spPr/>
      <dgm:t>
        <a:bodyPr/>
        <a:lstStyle/>
        <a:p>
          <a:r>
            <a:rPr lang="sr-Latn-RS" sz="1100" dirty="0" smtClean="0"/>
            <a:t>F-test predstavlja statistički test koji meri linearnu zavisnost između svake karakteristike i pKi</a:t>
          </a:r>
          <a:endParaRPr lang="en-US" sz="1100" dirty="0"/>
        </a:p>
      </dgm:t>
    </dgm:pt>
    <dgm:pt modelId="{0AB6392A-7F77-4AC0-A2A7-A0619E5E04CD}" type="parTrans" cxnId="{0F4D0236-816E-4E52-AE32-E6FBAA8931E2}">
      <dgm:prSet/>
      <dgm:spPr/>
      <dgm:t>
        <a:bodyPr/>
        <a:lstStyle/>
        <a:p>
          <a:endParaRPr lang="en-US"/>
        </a:p>
      </dgm:t>
    </dgm:pt>
    <dgm:pt modelId="{A8844169-46F9-49E7-A502-03E6A29455E2}" type="sibTrans" cxnId="{0F4D0236-816E-4E52-AE32-E6FBAA8931E2}">
      <dgm:prSet/>
      <dgm:spPr/>
      <dgm:t>
        <a:bodyPr/>
        <a:lstStyle/>
        <a:p>
          <a:endParaRPr lang="en-US"/>
        </a:p>
      </dgm:t>
    </dgm:pt>
    <dgm:pt modelId="{F6BCA459-8E38-45C4-B61D-A8BB55FB7C2C}">
      <dgm:prSet phldrT="[Text]" custT="1"/>
      <dgm:spPr/>
      <dgm:t>
        <a:bodyPr/>
        <a:lstStyle/>
        <a:p>
          <a:r>
            <a:rPr lang="sr-Latn-RS" sz="1100" dirty="0" smtClean="0"/>
            <a:t>Varijansa je računata za svaku od 2265 karakteristika i uklanjane su one čija varijansa je manja od 0.01 nakon standardizacije</a:t>
          </a:r>
          <a:endParaRPr lang="en-US" sz="1100" dirty="0"/>
        </a:p>
      </dgm:t>
    </dgm:pt>
    <dgm:pt modelId="{26935F13-1AE9-4253-A0BC-F6E85B6875AB}" type="parTrans" cxnId="{2CEE2E93-3008-4A7F-A521-C11B5304A5DF}">
      <dgm:prSet/>
      <dgm:spPr/>
      <dgm:t>
        <a:bodyPr/>
        <a:lstStyle/>
        <a:p>
          <a:endParaRPr lang="en-US"/>
        </a:p>
      </dgm:t>
    </dgm:pt>
    <dgm:pt modelId="{AAF18ED0-0C19-4B8F-947F-9C37E7C09F02}" type="sibTrans" cxnId="{2CEE2E93-3008-4A7F-A521-C11B5304A5DF}">
      <dgm:prSet/>
      <dgm:spPr/>
      <dgm:t>
        <a:bodyPr/>
        <a:lstStyle/>
        <a:p>
          <a:endParaRPr lang="en-US"/>
        </a:p>
      </dgm:t>
    </dgm:pt>
    <dgm:pt modelId="{4828F347-F971-4CF3-A035-FCC0EC22222C}">
      <dgm:prSet phldrT="[Text]" custT="1"/>
      <dgm:spPr/>
      <dgm:t>
        <a:bodyPr/>
        <a:lstStyle/>
        <a:p>
          <a:r>
            <a:rPr lang="sr-Latn-RS" sz="1100" dirty="0" smtClean="0"/>
            <a:t>Ovaj korak je uklonio 259 karakteristika (11.8%) </a:t>
          </a:r>
          <a:endParaRPr lang="en-US" sz="1100" dirty="0"/>
        </a:p>
      </dgm:t>
    </dgm:pt>
    <dgm:pt modelId="{240B439C-AF2B-42D1-8A95-9A16F7FE38BD}" type="parTrans" cxnId="{74204BDB-3C93-4817-9A71-278664781890}">
      <dgm:prSet/>
      <dgm:spPr/>
      <dgm:t>
        <a:bodyPr/>
        <a:lstStyle/>
        <a:p>
          <a:endParaRPr lang="en-US"/>
        </a:p>
      </dgm:t>
    </dgm:pt>
    <dgm:pt modelId="{D669401C-9530-4C0C-9D12-CD9BA0C81B5E}" type="sibTrans" cxnId="{74204BDB-3C93-4817-9A71-278664781890}">
      <dgm:prSet/>
      <dgm:spPr/>
      <dgm:t>
        <a:bodyPr/>
        <a:lstStyle/>
        <a:p>
          <a:endParaRPr lang="en-US"/>
        </a:p>
      </dgm:t>
    </dgm:pt>
    <dgm:pt modelId="{2614C4AA-F171-4399-BB44-9EC210E3C60B}">
      <dgm:prSet phldrT="[Text]" custT="1"/>
      <dgm:spPr/>
      <dgm:t>
        <a:bodyPr/>
        <a:lstStyle/>
        <a:p>
          <a:r>
            <a:rPr lang="sr-Latn-RS" sz="1100" dirty="0" smtClean="0"/>
            <a:t>Nakon računanja Pearson-ovog koeficijenta korelacije, za svaki par karakteristika koji imaju korelaciju &gt;0.95 uklanjamo jednu iz para</a:t>
          </a:r>
          <a:endParaRPr lang="en-US" sz="1100" dirty="0"/>
        </a:p>
      </dgm:t>
    </dgm:pt>
    <dgm:pt modelId="{56803282-5470-402D-AFAA-C81B57B3F2FF}" type="parTrans" cxnId="{68F68DB3-D466-4B07-AF51-DE5CB00564ED}">
      <dgm:prSet/>
      <dgm:spPr/>
      <dgm:t>
        <a:bodyPr/>
        <a:lstStyle/>
        <a:p>
          <a:endParaRPr lang="en-US"/>
        </a:p>
      </dgm:t>
    </dgm:pt>
    <dgm:pt modelId="{B31105D1-9798-4208-BC3E-6066E14E3023}" type="sibTrans" cxnId="{68F68DB3-D466-4B07-AF51-DE5CB00564ED}">
      <dgm:prSet/>
      <dgm:spPr/>
      <dgm:t>
        <a:bodyPr/>
        <a:lstStyle/>
        <a:p>
          <a:endParaRPr lang="en-US"/>
        </a:p>
      </dgm:t>
    </dgm:pt>
    <dgm:pt modelId="{B23CB917-6823-4BC4-B94E-57B37A1988EF}">
      <dgm:prSet phldrT="[Text]" custT="1"/>
      <dgm:spPr/>
      <dgm:t>
        <a:bodyPr/>
        <a:lstStyle/>
        <a:p>
          <a:r>
            <a:rPr lang="sr-Latn-RS" sz="1100" dirty="0" smtClean="0"/>
            <a:t>Uklanjamo onu sa manjom varijansom; Ovaj korak je uklonio 150 karakteristika (7.5%)</a:t>
          </a:r>
          <a:endParaRPr lang="en-US" sz="1100" dirty="0"/>
        </a:p>
      </dgm:t>
    </dgm:pt>
    <dgm:pt modelId="{D8D36557-219E-4A0F-8B68-DDFE34782F1F}" type="parTrans" cxnId="{121062CC-BC70-4589-9DC1-7F654192CFC5}">
      <dgm:prSet/>
      <dgm:spPr/>
      <dgm:t>
        <a:bodyPr/>
        <a:lstStyle/>
        <a:p>
          <a:endParaRPr lang="en-US"/>
        </a:p>
      </dgm:t>
    </dgm:pt>
    <dgm:pt modelId="{32CF4CB4-AD8E-48A1-BB97-8E4FAEC7DBC9}" type="sibTrans" cxnId="{121062CC-BC70-4589-9DC1-7F654192CFC5}">
      <dgm:prSet/>
      <dgm:spPr/>
      <dgm:t>
        <a:bodyPr/>
        <a:lstStyle/>
        <a:p>
          <a:endParaRPr lang="en-US"/>
        </a:p>
      </dgm:t>
    </dgm:pt>
    <dgm:pt modelId="{6343A636-FAC8-4A99-A9FC-68FC0A774988}">
      <dgm:prSet phldrT="[Text]" custT="1"/>
      <dgm:spPr/>
      <dgm:t>
        <a:bodyPr/>
        <a:lstStyle/>
        <a:p>
          <a:r>
            <a:rPr lang="sr-Latn-RS" sz="1100" dirty="0" smtClean="0"/>
            <a:t>Bira se 200 karakteristika sa najvišim rezultatom f-testa, jer najznačajnije doprinose predviđanju afiniteta; Zadržano je 10.8% originalnih karakteristika</a:t>
          </a:r>
          <a:endParaRPr lang="en-US" sz="1100" dirty="0"/>
        </a:p>
      </dgm:t>
    </dgm:pt>
    <dgm:pt modelId="{178E2D84-F731-4A69-B111-C58686B6F457}" type="parTrans" cxnId="{E3A044EB-FF68-4537-9503-EEDC6EFBF81A}">
      <dgm:prSet/>
      <dgm:spPr/>
      <dgm:t>
        <a:bodyPr/>
        <a:lstStyle/>
        <a:p>
          <a:endParaRPr lang="en-US"/>
        </a:p>
      </dgm:t>
    </dgm:pt>
    <dgm:pt modelId="{06458334-BE96-4AF8-AC03-8E7EAD048E70}" type="sibTrans" cxnId="{E3A044EB-FF68-4537-9503-EEDC6EFBF81A}">
      <dgm:prSet/>
      <dgm:spPr/>
      <dgm:t>
        <a:bodyPr/>
        <a:lstStyle/>
        <a:p>
          <a:endParaRPr lang="en-US"/>
        </a:p>
      </dgm:t>
    </dgm:pt>
    <dgm:pt modelId="{D952C7CE-AC06-4063-91A1-F8B93A64B0D6}">
      <dgm:prSet custT="1"/>
      <dgm:spPr/>
      <dgm:t>
        <a:bodyPr/>
        <a:lstStyle/>
        <a:p>
          <a:r>
            <a:rPr lang="sr-Latn-RS" sz="1100" dirty="0" smtClean="0"/>
            <a:t>Prvih nekoliko glavnih komponenti objašnjava najveći deo varijanse(MFP,fr_COO2,fr_ester grupe tipicne za inhibitore tripsina, qed)</a:t>
          </a:r>
          <a:endParaRPr lang="en-US" sz="1100" dirty="0"/>
        </a:p>
      </dgm:t>
    </dgm:pt>
    <dgm:pt modelId="{688BB4E9-5B30-4834-9FC1-3104CBF2C83C}" type="parTrans" cxnId="{06AF05BF-809F-4CFC-AC91-1317387AA4C3}">
      <dgm:prSet/>
      <dgm:spPr/>
      <dgm:t>
        <a:bodyPr/>
        <a:lstStyle/>
        <a:p>
          <a:endParaRPr lang="en-US"/>
        </a:p>
      </dgm:t>
    </dgm:pt>
    <dgm:pt modelId="{AA1307EE-6284-40F0-8998-046157855C1F}" type="sibTrans" cxnId="{06AF05BF-809F-4CFC-AC91-1317387AA4C3}">
      <dgm:prSet/>
      <dgm:spPr/>
      <dgm:t>
        <a:bodyPr/>
        <a:lstStyle/>
        <a:p>
          <a:endParaRPr lang="en-US"/>
        </a:p>
      </dgm:t>
    </dgm:pt>
    <dgm:pt modelId="{D9C8A83A-E845-4EDD-B995-F5D319E5EDBE}">
      <dgm:prSet custT="1"/>
      <dgm:spPr/>
      <dgm:t>
        <a:bodyPr/>
        <a:lstStyle/>
        <a:p>
          <a:r>
            <a:rPr lang="sr-Latn-RS" sz="1100" dirty="0" smtClean="0"/>
            <a:t>Zadržano 100 komponenti koje objašnjavaju ~97% ukupne varijanse originalnih podataka; Matrica postaje N x 100</a:t>
          </a:r>
          <a:endParaRPr lang="en-US" sz="1100" dirty="0"/>
        </a:p>
      </dgm:t>
    </dgm:pt>
    <dgm:pt modelId="{486F4411-F05B-4723-BF50-132E9BABBC5D}" type="parTrans" cxnId="{F49C7BEB-140E-4B8F-BFAB-D6BCB2834567}">
      <dgm:prSet/>
      <dgm:spPr/>
      <dgm:t>
        <a:bodyPr/>
        <a:lstStyle/>
        <a:p>
          <a:endParaRPr lang="en-US"/>
        </a:p>
      </dgm:t>
    </dgm:pt>
    <dgm:pt modelId="{633E2482-F25B-4D11-9BCA-C0DC44CF5CBD}" type="sibTrans" cxnId="{F49C7BEB-140E-4B8F-BFAB-D6BCB2834567}">
      <dgm:prSet/>
      <dgm:spPr/>
      <dgm:t>
        <a:bodyPr/>
        <a:lstStyle/>
        <a:p>
          <a:endParaRPr lang="en-US"/>
        </a:p>
      </dgm:t>
    </dgm:pt>
    <dgm:pt modelId="{53E17F5E-667B-4B68-BE32-37D1B06DDF66}" type="pres">
      <dgm:prSet presAssocID="{2E85DB82-0A5A-4664-991F-3EE0C0585002}" presName="Name0" presStyleCnt="0">
        <dgm:presLayoutVars>
          <dgm:chMax/>
          <dgm:chPref val="3"/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D2C91A6F-8A63-486F-8549-2D38888BD511}" type="pres">
      <dgm:prSet presAssocID="{34CCA8B3-5497-4C05-B3EF-2218444D9B1F}" presName="composite" presStyleCnt="0"/>
      <dgm:spPr/>
    </dgm:pt>
    <dgm:pt modelId="{2E57DE71-353C-4BB9-812A-92313BED41E3}" type="pres">
      <dgm:prSet presAssocID="{34CCA8B3-5497-4C05-B3EF-2218444D9B1F}" presName="FirstChild" presStyleLbl="revTx" presStyleIdx="0" presStyleCnt="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DF5B695-1029-4246-9ED1-7C8C3B62AC4F}" type="pres">
      <dgm:prSet presAssocID="{34CCA8B3-5497-4C05-B3EF-2218444D9B1F}" presName="Parent" presStyleLbl="alignNode1" presStyleIdx="0" presStyleCnt="4">
        <dgm:presLayoutVars>
          <dgm:chMax val="3"/>
          <dgm:chPref val="3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6C34C38-03C3-4B66-BCD5-A9BF019899EB}" type="pres">
      <dgm:prSet presAssocID="{34CCA8B3-5497-4C05-B3EF-2218444D9B1F}" presName="Accent" presStyleLbl="parChTrans1D1" presStyleIdx="0" presStyleCnt="4"/>
      <dgm:spPr/>
    </dgm:pt>
    <dgm:pt modelId="{C215B042-956E-4627-AA17-E29263C22E6B}" type="pres">
      <dgm:prSet presAssocID="{34CCA8B3-5497-4C05-B3EF-2218444D9B1F}" presName="Child" presStyleLbl="revTx" presStyleIdx="1" presStyleCnt="8" custScaleY="14099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61A4E20-F732-478B-8DEA-D278D59C07FB}" type="pres">
      <dgm:prSet presAssocID="{ECE35D75-161C-4F2D-B94E-554A23E0DF6F}" presName="sibTrans" presStyleCnt="0"/>
      <dgm:spPr/>
    </dgm:pt>
    <dgm:pt modelId="{67A58B9E-7D62-4450-973A-ED1C7A157E7F}" type="pres">
      <dgm:prSet presAssocID="{37570603-119C-4284-9BD9-45B0CD5DF827}" presName="composite" presStyleCnt="0"/>
      <dgm:spPr/>
    </dgm:pt>
    <dgm:pt modelId="{00FDAF1E-8B88-42B4-86E0-20EF52805209}" type="pres">
      <dgm:prSet presAssocID="{37570603-119C-4284-9BD9-45B0CD5DF827}" presName="FirstChild" presStyleLbl="revTx" presStyleIdx="2" presStyleCnt="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6BB830-F1BE-4FB3-A2EC-CC962CD9619A}" type="pres">
      <dgm:prSet presAssocID="{37570603-119C-4284-9BD9-45B0CD5DF827}" presName="Parent" presStyleLbl="alignNode1" presStyleIdx="1" presStyleCnt="4">
        <dgm:presLayoutVars>
          <dgm:chMax val="3"/>
          <dgm:chPref val="3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CFAF63F-3677-4C1B-9E3A-EDA2E9A21F46}" type="pres">
      <dgm:prSet presAssocID="{37570603-119C-4284-9BD9-45B0CD5DF827}" presName="Accent" presStyleLbl="parChTrans1D1" presStyleIdx="1" presStyleCnt="4"/>
      <dgm:spPr/>
    </dgm:pt>
    <dgm:pt modelId="{50C4994C-246F-49DF-A10E-85F0C980E1CB}" type="pres">
      <dgm:prSet presAssocID="{37570603-119C-4284-9BD9-45B0CD5DF827}" presName="Child" presStyleLbl="revTx" presStyleIdx="3" presStyleCnt="8" custScaleY="16356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1091FF1-4C8F-457C-A0A4-FC44E4F4ED78}" type="pres">
      <dgm:prSet presAssocID="{3D3A4124-DC76-4AC3-A42B-49CE948AE3C1}" presName="sibTrans" presStyleCnt="0"/>
      <dgm:spPr/>
    </dgm:pt>
    <dgm:pt modelId="{5D88D6D7-C9FC-436C-98D2-2192DCF564CA}" type="pres">
      <dgm:prSet presAssocID="{A2F7B3E4-1A04-4E39-9B9E-655D70E54262}" presName="composite" presStyleCnt="0"/>
      <dgm:spPr/>
    </dgm:pt>
    <dgm:pt modelId="{58207433-EC0C-475E-988A-AB7CCF84A465}" type="pres">
      <dgm:prSet presAssocID="{A2F7B3E4-1A04-4E39-9B9E-655D70E54262}" presName="FirstChild" presStyleLbl="revTx" presStyleIdx="4" presStyleCnt="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B458D91-829F-4352-9252-17CCD901164B}" type="pres">
      <dgm:prSet presAssocID="{A2F7B3E4-1A04-4E39-9B9E-655D70E54262}" presName="Parent" presStyleLbl="alignNode1" presStyleIdx="2" presStyleCnt="4">
        <dgm:presLayoutVars>
          <dgm:chMax val="3"/>
          <dgm:chPref val="3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5B4DA00-5104-4042-A9D8-43B194EC6575}" type="pres">
      <dgm:prSet presAssocID="{A2F7B3E4-1A04-4E39-9B9E-655D70E54262}" presName="Accent" presStyleLbl="parChTrans1D1" presStyleIdx="2" presStyleCnt="4"/>
      <dgm:spPr/>
    </dgm:pt>
    <dgm:pt modelId="{B63E7B57-37DA-4350-BB4E-5E42A1642807}" type="pres">
      <dgm:prSet presAssocID="{A2F7B3E4-1A04-4E39-9B9E-655D70E54262}" presName="Child" presStyleLbl="revTx" presStyleIdx="5" presStyleCnt="8" custScaleY="1708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EB9537A-D251-402C-8042-AAFB2E0CFAD9}" type="pres">
      <dgm:prSet presAssocID="{76D197F0-DFD0-4784-BDA3-0855E5090B6C}" presName="sibTrans" presStyleCnt="0"/>
      <dgm:spPr/>
    </dgm:pt>
    <dgm:pt modelId="{2BED4A2F-B2F1-4FD7-923E-E6EE589F69CE}" type="pres">
      <dgm:prSet presAssocID="{13062411-9DBE-47D5-9172-A822B4356437}" presName="composite" presStyleCnt="0"/>
      <dgm:spPr/>
    </dgm:pt>
    <dgm:pt modelId="{D6B8BC5A-22D9-496D-977E-9013414381D7}" type="pres">
      <dgm:prSet presAssocID="{13062411-9DBE-47D5-9172-A822B4356437}" presName="FirstChild" presStyleLbl="revTx" presStyleIdx="6" presStyleCnt="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64ED944-5590-4852-9C87-33FC53CA5C83}" type="pres">
      <dgm:prSet presAssocID="{13062411-9DBE-47D5-9172-A822B4356437}" presName="Parent" presStyleLbl="alignNode1" presStyleIdx="3" presStyleCnt="4">
        <dgm:presLayoutVars>
          <dgm:chMax val="3"/>
          <dgm:chPref val="3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B6944D2-A271-4E46-AEE7-61E9B8D832FE}" type="pres">
      <dgm:prSet presAssocID="{13062411-9DBE-47D5-9172-A822B4356437}" presName="Accent" presStyleLbl="parChTrans1D1" presStyleIdx="3" presStyleCnt="4"/>
      <dgm:spPr/>
    </dgm:pt>
    <dgm:pt modelId="{1315CD1F-A4E8-4CA8-B6CD-396F0B977DAC}" type="pres">
      <dgm:prSet presAssocID="{13062411-9DBE-47D5-9172-A822B4356437}" presName="Child" presStyleLbl="revTx" presStyleIdx="7" presStyleCnt="8" custScaleY="134489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6363667-9D03-4770-AFE9-631CE5CFF117}" type="presOf" srcId="{318F9EB4-8EB4-4FD6-9CF2-1AF58C91CF4A}" destId="{C215B042-956E-4627-AA17-E29263C22E6B}" srcOrd="0" destOrd="0" presId="urn:microsoft.com/office/officeart/2011/layout/TabList"/>
    <dgm:cxn modelId="{39266F3D-226E-4E60-9EEB-47DC5ED7A33A}" srcId="{37570603-119C-4284-9BD9-45B0CD5DF827}" destId="{C492C268-CE9B-4775-AB75-21802159D415}" srcOrd="0" destOrd="0" parTransId="{C18B0511-005E-4379-B392-0CA73DAF3583}" sibTransId="{E100D2FE-0465-491C-B919-807D11B3E9FB}"/>
    <dgm:cxn modelId="{702712D4-05BC-40D1-87BE-B3E7E08CA4FA}" type="presOf" srcId="{F6BCA459-8E38-45C4-B61D-A8BB55FB7C2C}" destId="{C215B042-956E-4627-AA17-E29263C22E6B}" srcOrd="0" destOrd="1" presId="urn:microsoft.com/office/officeart/2011/layout/TabList"/>
    <dgm:cxn modelId="{5843BD16-B75C-47B0-85EB-0663B44CCF8E}" type="presOf" srcId="{A2F7B3E4-1A04-4E39-9B9E-655D70E54262}" destId="{2B458D91-829F-4352-9252-17CCD901164B}" srcOrd="0" destOrd="0" presId="urn:microsoft.com/office/officeart/2011/layout/TabList"/>
    <dgm:cxn modelId="{65EEE0DB-029A-48F9-A3B8-ED96F97D98DC}" type="presOf" srcId="{13062411-9DBE-47D5-9172-A822B4356437}" destId="{E64ED944-5590-4852-9C87-33FC53CA5C83}" srcOrd="0" destOrd="0" presId="urn:microsoft.com/office/officeart/2011/layout/TabList"/>
    <dgm:cxn modelId="{F546A181-95EB-4619-AB86-92848EAF69EE}" srcId="{2E85DB82-0A5A-4664-991F-3EE0C0585002}" destId="{37570603-119C-4284-9BD9-45B0CD5DF827}" srcOrd="1" destOrd="0" parTransId="{4E0DEBF3-0FAE-499F-A9B2-4DD1482D1CB7}" sibTransId="{3D3A4124-DC76-4AC3-A42B-49CE948AE3C1}"/>
    <dgm:cxn modelId="{CB8E60D7-58E5-43BB-B371-92146E9A9229}" type="presOf" srcId="{B23CB917-6823-4BC4-B94E-57B37A1988EF}" destId="{50C4994C-246F-49DF-A10E-85F0C980E1CB}" srcOrd="0" destOrd="2" presId="urn:microsoft.com/office/officeart/2011/layout/TabList"/>
    <dgm:cxn modelId="{2CEE2E93-3008-4A7F-A521-C11B5304A5DF}" srcId="{34CCA8B3-5497-4C05-B3EF-2218444D9B1F}" destId="{F6BCA459-8E38-45C4-B61D-A8BB55FB7C2C}" srcOrd="2" destOrd="0" parTransId="{26935F13-1AE9-4253-A0BC-F6E85B6875AB}" sibTransId="{AAF18ED0-0C19-4B8F-947F-9C37E7C09F02}"/>
    <dgm:cxn modelId="{B18C269D-107E-45A1-8B41-863A4C12DDE3}" type="presOf" srcId="{2614C4AA-F171-4399-BB44-9EC210E3C60B}" destId="{50C4994C-246F-49DF-A10E-85F0C980E1CB}" srcOrd="0" destOrd="1" presId="urn:microsoft.com/office/officeart/2011/layout/TabList"/>
    <dgm:cxn modelId="{2C74FD9B-47B1-408A-A60F-4114E2B0A5D2}" type="presOf" srcId="{A5BFAAC7-90E5-4A12-96B7-0A5F5E064845}" destId="{1315CD1F-A4E8-4CA8-B6CD-396F0B977DAC}" srcOrd="0" destOrd="0" presId="urn:microsoft.com/office/officeart/2011/layout/TabList"/>
    <dgm:cxn modelId="{06AF05BF-809F-4CFC-AC91-1317387AA4C3}" srcId="{13062411-9DBE-47D5-9172-A822B4356437}" destId="{D952C7CE-AC06-4063-91A1-F8B93A64B0D6}" srcOrd="2" destOrd="0" parTransId="{688BB4E9-5B30-4834-9FC1-3104CBF2C83C}" sibTransId="{AA1307EE-6284-40F0-8998-046157855C1F}"/>
    <dgm:cxn modelId="{139D624C-9198-4D53-B01D-E27A79F308B9}" type="presOf" srcId="{37570603-119C-4284-9BD9-45B0CD5DF827}" destId="{B56BB830-F1BE-4FB3-A2EC-CC962CD9619A}" srcOrd="0" destOrd="0" presId="urn:microsoft.com/office/officeart/2011/layout/TabList"/>
    <dgm:cxn modelId="{AB273872-3B24-4C4A-B754-316CD5EC79CF}" srcId="{34CCA8B3-5497-4C05-B3EF-2218444D9B1F}" destId="{318F9EB4-8EB4-4FD6-9CF2-1AF58C91CF4A}" srcOrd="1" destOrd="0" parTransId="{9B96E8F6-E40B-4786-A149-BEFFCECCB23F}" sibTransId="{833E2CE9-4EDB-415F-8962-F987937DF33D}"/>
    <dgm:cxn modelId="{68F68DB3-D466-4B07-AF51-DE5CB00564ED}" srcId="{37570603-119C-4284-9BD9-45B0CD5DF827}" destId="{2614C4AA-F171-4399-BB44-9EC210E3C60B}" srcOrd="2" destOrd="0" parTransId="{56803282-5470-402D-AFAA-C81B57B3F2FF}" sibTransId="{B31105D1-9798-4208-BC3E-6066E14E3023}"/>
    <dgm:cxn modelId="{38B044E4-3330-4462-A1AB-638DD581336F}" srcId="{2E85DB82-0A5A-4664-991F-3EE0C0585002}" destId="{34CCA8B3-5497-4C05-B3EF-2218444D9B1F}" srcOrd="0" destOrd="0" parTransId="{05CEE680-58EB-4F15-AA7B-4AB218051155}" sibTransId="{ECE35D75-161C-4F2D-B94E-554A23E0DF6F}"/>
    <dgm:cxn modelId="{72AF0FA9-CFBC-4185-AF27-626B22352EED}" type="presOf" srcId="{D9C8A83A-E845-4EDD-B995-F5D319E5EDBE}" destId="{1315CD1F-A4E8-4CA8-B6CD-396F0B977DAC}" srcOrd="0" destOrd="2" presId="urn:microsoft.com/office/officeart/2011/layout/TabList"/>
    <dgm:cxn modelId="{FCE460F7-9FEE-4EA5-9715-FA9DE521B352}" srcId="{13062411-9DBE-47D5-9172-A822B4356437}" destId="{D19763BC-30CF-4E2C-A356-E3CF9AC7630A}" srcOrd="0" destOrd="0" parTransId="{B6408CB4-A2E6-44B0-BF6B-EACFF3B7F3DD}" sibTransId="{D1868C77-D862-4528-9595-A7B1C29ABB6B}"/>
    <dgm:cxn modelId="{80707B0C-BCDD-40C2-80B0-4ABE17D27FA6}" srcId="{34CCA8B3-5497-4C05-B3EF-2218444D9B1F}" destId="{685E50CC-D0C4-46E7-8A06-EA5A709EC4FD}" srcOrd="0" destOrd="0" parTransId="{B5CB5329-5AF8-4F92-822F-ACC86CCD13C5}" sibTransId="{BB8E41C4-1756-4C05-97E4-B0109C9D155C}"/>
    <dgm:cxn modelId="{D69F729E-E8F1-4B11-BDE9-5B2146C59E81}" type="presOf" srcId="{D19763BC-30CF-4E2C-A356-E3CF9AC7630A}" destId="{D6B8BC5A-22D9-496D-977E-9013414381D7}" srcOrd="0" destOrd="0" presId="urn:microsoft.com/office/officeart/2011/layout/TabList"/>
    <dgm:cxn modelId="{121062CC-BC70-4589-9DC1-7F654192CFC5}" srcId="{37570603-119C-4284-9BD9-45B0CD5DF827}" destId="{B23CB917-6823-4BC4-B94E-57B37A1988EF}" srcOrd="3" destOrd="0" parTransId="{D8D36557-219E-4A0F-8B68-DDFE34782F1F}" sibTransId="{32CF4CB4-AD8E-48A1-BB97-8E4FAEC7DBC9}"/>
    <dgm:cxn modelId="{CC64C40E-B325-4962-9518-2EB3E6003FE5}" type="presOf" srcId="{EED958BA-DE83-44BD-9099-50F023E7879B}" destId="{B63E7B57-37DA-4350-BB4E-5E42A1642807}" srcOrd="0" destOrd="0" presId="urn:microsoft.com/office/officeart/2011/layout/TabList"/>
    <dgm:cxn modelId="{240757ED-866B-41EA-BDE9-58982995878F}" type="presOf" srcId="{6343A636-FAC8-4A99-A9FC-68FC0A774988}" destId="{B63E7B57-37DA-4350-BB4E-5E42A1642807}" srcOrd="0" destOrd="2" presId="urn:microsoft.com/office/officeart/2011/layout/TabList"/>
    <dgm:cxn modelId="{BC7816FD-2965-4249-A7BD-C4986C6FB682}" srcId="{2E85DB82-0A5A-4664-991F-3EE0C0585002}" destId="{13062411-9DBE-47D5-9172-A822B4356437}" srcOrd="3" destOrd="0" parTransId="{14D4698A-6A94-4109-A5F2-920F7B01D2BA}" sibTransId="{FB00C96A-728E-4600-8DE3-CE4853209D28}"/>
    <dgm:cxn modelId="{F49C7BEB-140E-4B8F-BFAB-D6BCB2834567}" srcId="{13062411-9DBE-47D5-9172-A822B4356437}" destId="{D9C8A83A-E845-4EDD-B995-F5D319E5EDBE}" srcOrd="3" destOrd="0" parTransId="{486F4411-F05B-4723-BF50-132E9BABBC5D}" sibTransId="{633E2482-F25B-4D11-9BCA-C0DC44CF5CBD}"/>
    <dgm:cxn modelId="{4DF572E6-4C4C-46AC-A20C-24239B62346C}" type="presOf" srcId="{2E85DB82-0A5A-4664-991F-3EE0C0585002}" destId="{53E17F5E-667B-4B68-BE32-37D1B06DDF66}" srcOrd="0" destOrd="0" presId="urn:microsoft.com/office/officeart/2011/layout/TabList"/>
    <dgm:cxn modelId="{D4509790-02C6-4094-BC70-23C4C62D6783}" type="presOf" srcId="{4828F347-F971-4CF3-A035-FCC0EC22222C}" destId="{C215B042-956E-4627-AA17-E29263C22E6B}" srcOrd="0" destOrd="2" presId="urn:microsoft.com/office/officeart/2011/layout/TabList"/>
    <dgm:cxn modelId="{74204BDB-3C93-4817-9A71-278664781890}" srcId="{34CCA8B3-5497-4C05-B3EF-2218444D9B1F}" destId="{4828F347-F971-4CF3-A035-FCC0EC22222C}" srcOrd="3" destOrd="0" parTransId="{240B439C-AF2B-42D1-8A95-9A16F7FE38BD}" sibTransId="{D669401C-9530-4C0C-9D12-CD9BA0C81B5E}"/>
    <dgm:cxn modelId="{C9CA2958-72BD-49D7-B108-D388F2481E1F}" type="presOf" srcId="{C5CA0BCE-E008-47F0-9D10-40BF1F0BD503}" destId="{58207433-EC0C-475E-988A-AB7CCF84A465}" srcOrd="0" destOrd="0" presId="urn:microsoft.com/office/officeart/2011/layout/TabList"/>
    <dgm:cxn modelId="{7FF13542-BE99-48C3-BC36-9EB67CBB249E}" srcId="{37570603-119C-4284-9BD9-45B0CD5DF827}" destId="{6DDF566C-C327-4CA9-8F22-053D9405FB39}" srcOrd="1" destOrd="0" parTransId="{883C1031-DFD7-4771-B8D9-0DE2DB4BA883}" sibTransId="{754A9ABD-20A0-4A07-A45A-57C89D346943}"/>
    <dgm:cxn modelId="{82373C04-ED08-406A-B569-4ADB8502F2D9}" type="presOf" srcId="{D952C7CE-AC06-4063-91A1-F8B93A64B0D6}" destId="{1315CD1F-A4E8-4CA8-B6CD-396F0B977DAC}" srcOrd="0" destOrd="1" presId="urn:microsoft.com/office/officeart/2011/layout/TabList"/>
    <dgm:cxn modelId="{5612D6B7-42A4-49AD-9A70-3668614A9222}" type="presOf" srcId="{6DDF566C-C327-4CA9-8F22-053D9405FB39}" destId="{50C4994C-246F-49DF-A10E-85F0C980E1CB}" srcOrd="0" destOrd="0" presId="urn:microsoft.com/office/officeart/2011/layout/TabList"/>
    <dgm:cxn modelId="{66709E33-156C-4738-AAEA-A924FD2514DE}" srcId="{2E85DB82-0A5A-4664-991F-3EE0C0585002}" destId="{A2F7B3E4-1A04-4E39-9B9E-655D70E54262}" srcOrd="2" destOrd="0" parTransId="{C680E737-B752-452D-A8C5-D6CA064BD505}" sibTransId="{76D197F0-DFD0-4784-BDA3-0855E5090B6C}"/>
    <dgm:cxn modelId="{31EF0541-E7A9-4CE0-96EC-2215D30FD2BA}" type="presOf" srcId="{685E50CC-D0C4-46E7-8A06-EA5A709EC4FD}" destId="{2E57DE71-353C-4BB9-812A-92313BED41E3}" srcOrd="0" destOrd="0" presId="urn:microsoft.com/office/officeart/2011/layout/TabList"/>
    <dgm:cxn modelId="{0F4D0236-816E-4E52-AE32-E6FBAA8931E2}" srcId="{A2F7B3E4-1A04-4E39-9B9E-655D70E54262}" destId="{680B0A9C-CB44-4B50-ABC2-AED7445462A7}" srcOrd="2" destOrd="0" parTransId="{0AB6392A-7F77-4AC0-A2A7-A0619E5E04CD}" sibTransId="{A8844169-46F9-49E7-A502-03E6A29455E2}"/>
    <dgm:cxn modelId="{9848396D-D8EC-413D-9116-B45B927154BB}" srcId="{13062411-9DBE-47D5-9172-A822B4356437}" destId="{A5BFAAC7-90E5-4A12-96B7-0A5F5E064845}" srcOrd="1" destOrd="0" parTransId="{5D110C41-0A6D-49D5-A730-24939C337BC1}" sibTransId="{9ED8FAEA-63C6-4BD7-B6D9-7B069AA188A4}"/>
    <dgm:cxn modelId="{774FF241-DB13-4069-8AE8-5B437D004F8F}" srcId="{A2F7B3E4-1A04-4E39-9B9E-655D70E54262}" destId="{EED958BA-DE83-44BD-9099-50F023E7879B}" srcOrd="1" destOrd="0" parTransId="{0FDC6BCF-2357-48A2-BF56-35B8ADF258D9}" sibTransId="{D2F42C31-E681-453E-A0EA-11084AD7E550}"/>
    <dgm:cxn modelId="{18177139-E5E4-4A82-B4CB-1F045BFBCC0C}" type="presOf" srcId="{680B0A9C-CB44-4B50-ABC2-AED7445462A7}" destId="{B63E7B57-37DA-4350-BB4E-5E42A1642807}" srcOrd="0" destOrd="1" presId="urn:microsoft.com/office/officeart/2011/layout/TabList"/>
    <dgm:cxn modelId="{0B75C79B-A41D-47E7-A515-62705BFCC412}" type="presOf" srcId="{34CCA8B3-5497-4C05-B3EF-2218444D9B1F}" destId="{6DF5B695-1029-4246-9ED1-7C8C3B62AC4F}" srcOrd="0" destOrd="0" presId="urn:microsoft.com/office/officeart/2011/layout/TabList"/>
    <dgm:cxn modelId="{A1F608DD-8C76-4B5C-96C5-DB5CC421DF98}" srcId="{A2F7B3E4-1A04-4E39-9B9E-655D70E54262}" destId="{C5CA0BCE-E008-47F0-9D10-40BF1F0BD503}" srcOrd="0" destOrd="0" parTransId="{18B4527C-02EE-4543-BA0C-3CFC6922CE28}" sibTransId="{886BD27A-C79A-4D5E-9280-EB46AE23F230}"/>
    <dgm:cxn modelId="{A65CF559-0CA1-4976-A0F6-787C2F3A4F47}" type="presOf" srcId="{C492C268-CE9B-4775-AB75-21802159D415}" destId="{00FDAF1E-8B88-42B4-86E0-20EF52805209}" srcOrd="0" destOrd="0" presId="urn:microsoft.com/office/officeart/2011/layout/TabList"/>
    <dgm:cxn modelId="{E3A044EB-FF68-4537-9503-EEDC6EFBF81A}" srcId="{A2F7B3E4-1A04-4E39-9B9E-655D70E54262}" destId="{6343A636-FAC8-4A99-A9FC-68FC0A774988}" srcOrd="3" destOrd="0" parTransId="{178E2D84-F731-4A69-B111-C58686B6F457}" sibTransId="{06458334-BE96-4AF8-AC03-8E7EAD048E70}"/>
    <dgm:cxn modelId="{28AB6044-9011-4FDD-91C7-B0086DBA4665}" type="presParOf" srcId="{53E17F5E-667B-4B68-BE32-37D1B06DDF66}" destId="{D2C91A6F-8A63-486F-8549-2D38888BD511}" srcOrd="0" destOrd="0" presId="urn:microsoft.com/office/officeart/2011/layout/TabList"/>
    <dgm:cxn modelId="{18C089C5-A263-4A35-B82F-440131814EE2}" type="presParOf" srcId="{D2C91A6F-8A63-486F-8549-2D38888BD511}" destId="{2E57DE71-353C-4BB9-812A-92313BED41E3}" srcOrd="0" destOrd="0" presId="urn:microsoft.com/office/officeart/2011/layout/TabList"/>
    <dgm:cxn modelId="{010264F4-081D-4E60-A512-2118FC1226D8}" type="presParOf" srcId="{D2C91A6F-8A63-486F-8549-2D38888BD511}" destId="{6DF5B695-1029-4246-9ED1-7C8C3B62AC4F}" srcOrd="1" destOrd="0" presId="urn:microsoft.com/office/officeart/2011/layout/TabList"/>
    <dgm:cxn modelId="{E0208305-6AA4-4599-A71B-0E91F803DE0A}" type="presParOf" srcId="{D2C91A6F-8A63-486F-8549-2D38888BD511}" destId="{A6C34C38-03C3-4B66-BCD5-A9BF019899EB}" srcOrd="2" destOrd="0" presId="urn:microsoft.com/office/officeart/2011/layout/TabList"/>
    <dgm:cxn modelId="{4578D6A3-1B7C-4E97-A2B0-C7A7ED84DECA}" type="presParOf" srcId="{53E17F5E-667B-4B68-BE32-37D1B06DDF66}" destId="{C215B042-956E-4627-AA17-E29263C22E6B}" srcOrd="1" destOrd="0" presId="urn:microsoft.com/office/officeart/2011/layout/TabList"/>
    <dgm:cxn modelId="{EC418B2C-A73D-4850-AD27-21DB4721CA75}" type="presParOf" srcId="{53E17F5E-667B-4B68-BE32-37D1B06DDF66}" destId="{961A4E20-F732-478B-8DEA-D278D59C07FB}" srcOrd="2" destOrd="0" presId="urn:microsoft.com/office/officeart/2011/layout/TabList"/>
    <dgm:cxn modelId="{C1E4A140-C5B4-4D7D-B5A5-6B50CC2FD3A9}" type="presParOf" srcId="{53E17F5E-667B-4B68-BE32-37D1B06DDF66}" destId="{67A58B9E-7D62-4450-973A-ED1C7A157E7F}" srcOrd="3" destOrd="0" presId="urn:microsoft.com/office/officeart/2011/layout/TabList"/>
    <dgm:cxn modelId="{31C9628B-505A-4520-BBDF-3DA5B5094ACD}" type="presParOf" srcId="{67A58B9E-7D62-4450-973A-ED1C7A157E7F}" destId="{00FDAF1E-8B88-42B4-86E0-20EF52805209}" srcOrd="0" destOrd="0" presId="urn:microsoft.com/office/officeart/2011/layout/TabList"/>
    <dgm:cxn modelId="{82C5B680-6AB6-497C-8436-29B74350F222}" type="presParOf" srcId="{67A58B9E-7D62-4450-973A-ED1C7A157E7F}" destId="{B56BB830-F1BE-4FB3-A2EC-CC962CD9619A}" srcOrd="1" destOrd="0" presId="urn:microsoft.com/office/officeart/2011/layout/TabList"/>
    <dgm:cxn modelId="{CB033FD6-2168-4EC1-8BE0-32D8BD835909}" type="presParOf" srcId="{67A58B9E-7D62-4450-973A-ED1C7A157E7F}" destId="{DCFAF63F-3677-4C1B-9E3A-EDA2E9A21F46}" srcOrd="2" destOrd="0" presId="urn:microsoft.com/office/officeart/2011/layout/TabList"/>
    <dgm:cxn modelId="{B0D8889C-22ED-4B04-8B09-8201D70516CD}" type="presParOf" srcId="{53E17F5E-667B-4B68-BE32-37D1B06DDF66}" destId="{50C4994C-246F-49DF-A10E-85F0C980E1CB}" srcOrd="4" destOrd="0" presId="urn:microsoft.com/office/officeart/2011/layout/TabList"/>
    <dgm:cxn modelId="{6212BD1D-FE59-4012-80D2-323BF9889B64}" type="presParOf" srcId="{53E17F5E-667B-4B68-BE32-37D1B06DDF66}" destId="{01091FF1-4C8F-457C-A0A4-FC44E4F4ED78}" srcOrd="5" destOrd="0" presId="urn:microsoft.com/office/officeart/2011/layout/TabList"/>
    <dgm:cxn modelId="{8F002374-F599-4CB3-82DF-C71935C067B6}" type="presParOf" srcId="{53E17F5E-667B-4B68-BE32-37D1B06DDF66}" destId="{5D88D6D7-C9FC-436C-98D2-2192DCF564CA}" srcOrd="6" destOrd="0" presId="urn:microsoft.com/office/officeart/2011/layout/TabList"/>
    <dgm:cxn modelId="{8841A1F1-CB86-49A2-94C9-26BEF80C063A}" type="presParOf" srcId="{5D88D6D7-C9FC-436C-98D2-2192DCF564CA}" destId="{58207433-EC0C-475E-988A-AB7CCF84A465}" srcOrd="0" destOrd="0" presId="urn:microsoft.com/office/officeart/2011/layout/TabList"/>
    <dgm:cxn modelId="{F3A2B1BC-A680-4780-B230-8FE89C591EBF}" type="presParOf" srcId="{5D88D6D7-C9FC-436C-98D2-2192DCF564CA}" destId="{2B458D91-829F-4352-9252-17CCD901164B}" srcOrd="1" destOrd="0" presId="urn:microsoft.com/office/officeart/2011/layout/TabList"/>
    <dgm:cxn modelId="{32ED3575-76ED-41A8-BC72-82AC3E5BABE6}" type="presParOf" srcId="{5D88D6D7-C9FC-436C-98D2-2192DCF564CA}" destId="{85B4DA00-5104-4042-A9D8-43B194EC6575}" srcOrd="2" destOrd="0" presId="urn:microsoft.com/office/officeart/2011/layout/TabList"/>
    <dgm:cxn modelId="{6DF17541-47EE-457D-80B8-893F2EBC5E6D}" type="presParOf" srcId="{53E17F5E-667B-4B68-BE32-37D1B06DDF66}" destId="{B63E7B57-37DA-4350-BB4E-5E42A1642807}" srcOrd="7" destOrd="0" presId="urn:microsoft.com/office/officeart/2011/layout/TabList"/>
    <dgm:cxn modelId="{608B9D19-BC6C-4FE3-A846-2EDEB941E725}" type="presParOf" srcId="{53E17F5E-667B-4B68-BE32-37D1B06DDF66}" destId="{6EB9537A-D251-402C-8042-AAFB2E0CFAD9}" srcOrd="8" destOrd="0" presId="urn:microsoft.com/office/officeart/2011/layout/TabList"/>
    <dgm:cxn modelId="{F49F30B1-0844-4E1B-B4F9-03AD7BD954DC}" type="presParOf" srcId="{53E17F5E-667B-4B68-BE32-37D1B06DDF66}" destId="{2BED4A2F-B2F1-4FD7-923E-E6EE589F69CE}" srcOrd="9" destOrd="0" presId="urn:microsoft.com/office/officeart/2011/layout/TabList"/>
    <dgm:cxn modelId="{0B13D1DC-7049-49CD-9D1B-752888DEB08C}" type="presParOf" srcId="{2BED4A2F-B2F1-4FD7-923E-E6EE589F69CE}" destId="{D6B8BC5A-22D9-496D-977E-9013414381D7}" srcOrd="0" destOrd="0" presId="urn:microsoft.com/office/officeart/2011/layout/TabList"/>
    <dgm:cxn modelId="{662197A4-0292-453B-A314-E4D03BBF5691}" type="presParOf" srcId="{2BED4A2F-B2F1-4FD7-923E-E6EE589F69CE}" destId="{E64ED944-5590-4852-9C87-33FC53CA5C83}" srcOrd="1" destOrd="0" presId="urn:microsoft.com/office/officeart/2011/layout/TabList"/>
    <dgm:cxn modelId="{996C9860-1D9D-445A-B468-D8A399E68A04}" type="presParOf" srcId="{2BED4A2F-B2F1-4FD7-923E-E6EE589F69CE}" destId="{8B6944D2-A271-4E46-AEE7-61E9B8D832FE}" srcOrd="2" destOrd="0" presId="urn:microsoft.com/office/officeart/2011/layout/TabList"/>
    <dgm:cxn modelId="{466C0798-8770-4116-B98D-41033904DB2A}" type="presParOf" srcId="{53E17F5E-667B-4B68-BE32-37D1B06DDF66}" destId="{1315CD1F-A4E8-4CA8-B6CD-396F0B977DAC}" srcOrd="10" destOrd="0" presId="urn:microsoft.com/office/officeart/2011/layout/Tab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944D2-A271-4E46-AEE7-61E9B8D832FE}">
      <dsp:nvSpPr>
        <dsp:cNvPr id="0" name=""/>
        <dsp:cNvSpPr/>
      </dsp:nvSpPr>
      <dsp:spPr>
        <a:xfrm>
          <a:off x="0" y="2697913"/>
          <a:ext cx="8222925" cy="0"/>
        </a:xfrm>
        <a:prstGeom prst="line">
          <a:avLst/>
        </a:pr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B4DA00-5104-4042-A9D8-43B194EC6575}">
      <dsp:nvSpPr>
        <dsp:cNvPr id="0" name=""/>
        <dsp:cNvSpPr/>
      </dsp:nvSpPr>
      <dsp:spPr>
        <a:xfrm>
          <a:off x="0" y="1816053"/>
          <a:ext cx="8222925" cy="0"/>
        </a:xfrm>
        <a:prstGeom prst="line">
          <a:avLst/>
        </a:pr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FAF63F-3677-4C1B-9E3A-EDA2E9A21F46}">
      <dsp:nvSpPr>
        <dsp:cNvPr id="0" name=""/>
        <dsp:cNvSpPr/>
      </dsp:nvSpPr>
      <dsp:spPr>
        <a:xfrm>
          <a:off x="0" y="962893"/>
          <a:ext cx="8222925" cy="0"/>
        </a:xfrm>
        <a:prstGeom prst="line">
          <a:avLst/>
        </a:pr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C34C38-03C3-4B66-BCD5-A9BF019899EB}">
      <dsp:nvSpPr>
        <dsp:cNvPr id="0" name=""/>
        <dsp:cNvSpPr/>
      </dsp:nvSpPr>
      <dsp:spPr>
        <a:xfrm>
          <a:off x="0" y="198859"/>
          <a:ext cx="8222925" cy="0"/>
        </a:xfrm>
        <a:prstGeom prst="line">
          <a:avLst/>
        </a:pr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7DE71-353C-4BB9-812A-92313BED41E3}">
      <dsp:nvSpPr>
        <dsp:cNvPr id="0" name=""/>
        <dsp:cNvSpPr/>
      </dsp:nvSpPr>
      <dsp:spPr>
        <a:xfrm>
          <a:off x="2137960" y="1446"/>
          <a:ext cx="6084964" cy="1974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b" anchorCtr="0">
          <a:noAutofit/>
        </a:bodyPr>
        <a:lstStyle/>
        <a:p>
          <a:pPr lvl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200" b="1" kern="1200" dirty="0" smtClean="0"/>
            <a:t>Uklanjanje karakteristika sa niskom varijansom</a:t>
          </a:r>
          <a:endParaRPr lang="en-US" sz="1200" b="1" kern="1200" dirty="0"/>
        </a:p>
      </dsp:txBody>
      <dsp:txXfrm>
        <a:off x="2137960" y="1446"/>
        <a:ext cx="6084964" cy="197413"/>
      </dsp:txXfrm>
    </dsp:sp>
    <dsp:sp modelId="{6DF5B695-1029-4246-9ED1-7C8C3B62AC4F}">
      <dsp:nvSpPr>
        <dsp:cNvPr id="0" name=""/>
        <dsp:cNvSpPr/>
      </dsp:nvSpPr>
      <dsp:spPr>
        <a:xfrm>
          <a:off x="0" y="1446"/>
          <a:ext cx="2137960" cy="197413"/>
        </a:xfrm>
        <a:prstGeom prst="round2SameRect">
          <a:avLst>
            <a:gd name="adj1" fmla="val 16670"/>
            <a:gd name="adj2" fmla="val 0"/>
          </a:avLst>
        </a:prstGeom>
        <a:solidFill>
          <a:schemeClr val="accent3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100" kern="1200" dirty="0" smtClean="0"/>
            <a:t>1.</a:t>
          </a:r>
          <a:endParaRPr lang="en-US" sz="1100" kern="1200" dirty="0"/>
        </a:p>
      </dsp:txBody>
      <dsp:txXfrm>
        <a:off x="9639" y="11085"/>
        <a:ext cx="2118682" cy="187774"/>
      </dsp:txXfrm>
    </dsp:sp>
    <dsp:sp modelId="{C215B042-956E-4627-AA17-E29263C22E6B}">
      <dsp:nvSpPr>
        <dsp:cNvPr id="0" name=""/>
        <dsp:cNvSpPr/>
      </dsp:nvSpPr>
      <dsp:spPr>
        <a:xfrm>
          <a:off x="0" y="198859"/>
          <a:ext cx="8222925" cy="5567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20955" rIns="20955" bIns="20955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Karakteristike koje se gotovo ne menjaju kroz skup podataka ne mogu biti korisne za predikciju, predstavljaju šum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Varijansa je računata za svaku od 2265 karakteristika i uklanjane su one čija varijansa je manja od 0.01 nakon standardizacije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Ovaj korak je uklonio 259 karakteristika (11.8%) </a:t>
          </a:r>
          <a:endParaRPr lang="en-US" sz="1100" kern="1200" dirty="0"/>
        </a:p>
      </dsp:txBody>
      <dsp:txXfrm>
        <a:off x="0" y="198859"/>
        <a:ext cx="8222925" cy="556749"/>
      </dsp:txXfrm>
    </dsp:sp>
    <dsp:sp modelId="{00FDAF1E-8B88-42B4-86E0-20EF52805209}">
      <dsp:nvSpPr>
        <dsp:cNvPr id="0" name=""/>
        <dsp:cNvSpPr/>
      </dsp:nvSpPr>
      <dsp:spPr>
        <a:xfrm>
          <a:off x="2137960" y="765480"/>
          <a:ext cx="6084964" cy="1974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b" anchorCtr="0">
          <a:noAutofit/>
        </a:bodyPr>
        <a:lstStyle/>
        <a:p>
          <a:pPr lvl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200" b="1" kern="1200" dirty="0" smtClean="0"/>
            <a:t>Uklanjanje visokokorelisanih parova</a:t>
          </a:r>
          <a:endParaRPr lang="en-US" sz="1200" b="1" kern="1200" dirty="0"/>
        </a:p>
      </dsp:txBody>
      <dsp:txXfrm>
        <a:off x="2137960" y="765480"/>
        <a:ext cx="6084964" cy="197413"/>
      </dsp:txXfrm>
    </dsp:sp>
    <dsp:sp modelId="{B56BB830-F1BE-4FB3-A2EC-CC962CD9619A}">
      <dsp:nvSpPr>
        <dsp:cNvPr id="0" name=""/>
        <dsp:cNvSpPr/>
      </dsp:nvSpPr>
      <dsp:spPr>
        <a:xfrm>
          <a:off x="0" y="765480"/>
          <a:ext cx="2137960" cy="197413"/>
        </a:xfrm>
        <a:prstGeom prst="round2SameRect">
          <a:avLst>
            <a:gd name="adj1" fmla="val 16670"/>
            <a:gd name="adj2" fmla="val 0"/>
          </a:avLst>
        </a:prstGeom>
        <a:solidFill>
          <a:schemeClr val="accent3">
            <a:alpha val="90000"/>
            <a:hueOff val="0"/>
            <a:satOff val="0"/>
            <a:lumOff val="0"/>
            <a:alphaOff val="-13333"/>
          </a:schemeClr>
        </a:solidFill>
        <a:ln w="25400" cap="flat" cmpd="sng" algn="ctr">
          <a:solidFill>
            <a:schemeClr val="accent3">
              <a:alpha val="90000"/>
              <a:hueOff val="0"/>
              <a:satOff val="0"/>
              <a:lumOff val="0"/>
              <a:alphaOff val="-13333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100" kern="1200" dirty="0" smtClean="0"/>
            <a:t>2.</a:t>
          </a:r>
          <a:endParaRPr lang="en-US" sz="1100" kern="1200" dirty="0"/>
        </a:p>
      </dsp:txBody>
      <dsp:txXfrm>
        <a:off x="9639" y="775119"/>
        <a:ext cx="2118682" cy="187774"/>
      </dsp:txXfrm>
    </dsp:sp>
    <dsp:sp modelId="{50C4994C-246F-49DF-A10E-85F0C980E1CB}">
      <dsp:nvSpPr>
        <dsp:cNvPr id="0" name=""/>
        <dsp:cNvSpPr/>
      </dsp:nvSpPr>
      <dsp:spPr>
        <a:xfrm>
          <a:off x="0" y="962893"/>
          <a:ext cx="8222925" cy="645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20955" rIns="20955" bIns="20955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Multikolinearnost(dve karakteristike savršeno korelisane) otežava interpretaciju i smanjuje stabilnost modela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Nakon računanja Pearson-ovog koeficijenta korelacije, za svaki par karakteristika koji imaju korelaciju &gt;0.95 uklanjamo jednu iz para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Uklanjamo onu sa manjom varijansom; Ovaj korak je uklonio 150 karakteristika (7.5%)</a:t>
          </a:r>
          <a:endParaRPr lang="en-US" sz="1100" kern="1200" dirty="0"/>
        </a:p>
      </dsp:txBody>
      <dsp:txXfrm>
        <a:off x="0" y="962893"/>
        <a:ext cx="8222925" cy="645875"/>
      </dsp:txXfrm>
    </dsp:sp>
    <dsp:sp modelId="{58207433-EC0C-475E-988A-AB7CCF84A465}">
      <dsp:nvSpPr>
        <dsp:cNvPr id="0" name=""/>
        <dsp:cNvSpPr/>
      </dsp:nvSpPr>
      <dsp:spPr>
        <a:xfrm>
          <a:off x="2137960" y="1618639"/>
          <a:ext cx="6084964" cy="1974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b" anchorCtr="0">
          <a:noAutofit/>
        </a:bodyPr>
        <a:lstStyle/>
        <a:p>
          <a:pPr lvl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200" b="1" kern="1200" dirty="0" smtClean="0"/>
            <a:t>Selekcija top 200 karakteristika</a:t>
          </a:r>
          <a:endParaRPr lang="en-US" sz="1200" b="1" kern="1200" dirty="0"/>
        </a:p>
      </dsp:txBody>
      <dsp:txXfrm>
        <a:off x="2137960" y="1618639"/>
        <a:ext cx="6084964" cy="197413"/>
      </dsp:txXfrm>
    </dsp:sp>
    <dsp:sp modelId="{2B458D91-829F-4352-9252-17CCD901164B}">
      <dsp:nvSpPr>
        <dsp:cNvPr id="0" name=""/>
        <dsp:cNvSpPr/>
      </dsp:nvSpPr>
      <dsp:spPr>
        <a:xfrm>
          <a:off x="0" y="1618639"/>
          <a:ext cx="2137960" cy="197413"/>
        </a:xfrm>
        <a:prstGeom prst="round2SameRect">
          <a:avLst>
            <a:gd name="adj1" fmla="val 16670"/>
            <a:gd name="adj2" fmla="val 0"/>
          </a:avLst>
        </a:prstGeom>
        <a:solidFill>
          <a:schemeClr val="accent3">
            <a:alpha val="90000"/>
            <a:hueOff val="0"/>
            <a:satOff val="0"/>
            <a:lumOff val="0"/>
            <a:alphaOff val="-26667"/>
          </a:schemeClr>
        </a:solidFill>
        <a:ln w="25400" cap="flat" cmpd="sng" algn="ctr">
          <a:solidFill>
            <a:schemeClr val="accent3">
              <a:alpha val="90000"/>
              <a:hueOff val="0"/>
              <a:satOff val="0"/>
              <a:lumOff val="0"/>
              <a:alphaOff val="-26667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100" kern="1200" dirty="0" smtClean="0"/>
            <a:t>3.</a:t>
          </a:r>
          <a:endParaRPr lang="en-US" sz="1100" kern="1200" dirty="0"/>
        </a:p>
      </dsp:txBody>
      <dsp:txXfrm>
        <a:off x="9639" y="1628278"/>
        <a:ext cx="2118682" cy="187774"/>
      </dsp:txXfrm>
    </dsp:sp>
    <dsp:sp modelId="{B63E7B57-37DA-4350-BB4E-5E42A1642807}">
      <dsp:nvSpPr>
        <dsp:cNvPr id="0" name=""/>
        <dsp:cNvSpPr/>
      </dsp:nvSpPr>
      <dsp:spPr>
        <a:xfrm>
          <a:off x="0" y="1816053"/>
          <a:ext cx="8222925" cy="674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20955" rIns="20955" bIns="20955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Zadržavamo one karakteristike koje su najjače povezane sa ciljnom promenljivom pKi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F-test predstavlja statistički test koji meri linearnu zavisnost između svake karakteristike i pKi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Bira se 200 karakteristika sa najvišim rezultatom f-testa, jer najznačajnije doprinose predviđanju afiniteta; Zadržano je 10.8% originalnih karakteristika</a:t>
          </a:r>
          <a:endParaRPr lang="en-US" sz="1100" kern="1200" dirty="0"/>
        </a:p>
      </dsp:txBody>
      <dsp:txXfrm>
        <a:off x="0" y="1816053"/>
        <a:ext cx="8222925" cy="674576"/>
      </dsp:txXfrm>
    </dsp:sp>
    <dsp:sp modelId="{D6B8BC5A-22D9-496D-977E-9013414381D7}">
      <dsp:nvSpPr>
        <dsp:cNvPr id="0" name=""/>
        <dsp:cNvSpPr/>
      </dsp:nvSpPr>
      <dsp:spPr>
        <a:xfrm>
          <a:off x="2137960" y="2500500"/>
          <a:ext cx="6084964" cy="1974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b" anchorCtr="0">
          <a:noAutofit/>
        </a:bodyPr>
        <a:lstStyle/>
        <a:p>
          <a:pPr lvl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200" b="1" kern="1200" dirty="0" smtClean="0"/>
            <a:t>PCA (Principal Component Analysis)</a:t>
          </a:r>
          <a:endParaRPr lang="en-US" sz="1200" b="1" kern="1200" dirty="0"/>
        </a:p>
      </dsp:txBody>
      <dsp:txXfrm>
        <a:off x="2137960" y="2500500"/>
        <a:ext cx="6084964" cy="197413"/>
      </dsp:txXfrm>
    </dsp:sp>
    <dsp:sp modelId="{E64ED944-5590-4852-9C87-33FC53CA5C83}">
      <dsp:nvSpPr>
        <dsp:cNvPr id="0" name=""/>
        <dsp:cNvSpPr/>
      </dsp:nvSpPr>
      <dsp:spPr>
        <a:xfrm>
          <a:off x="0" y="2500500"/>
          <a:ext cx="2137960" cy="197413"/>
        </a:xfrm>
        <a:prstGeom prst="round2SameRect">
          <a:avLst>
            <a:gd name="adj1" fmla="val 16670"/>
            <a:gd name="adj2" fmla="val 0"/>
          </a:avLst>
        </a:prstGeom>
        <a:solidFill>
          <a:schemeClr val="accent3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accent3">
              <a:alpha val="90000"/>
              <a:hueOff val="0"/>
              <a:satOff val="0"/>
              <a:lumOff val="0"/>
              <a:alphaOff val="-4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RS" sz="1100" kern="1200" dirty="0" smtClean="0"/>
            <a:t>4.</a:t>
          </a:r>
          <a:endParaRPr lang="en-US" sz="1100" kern="1200" dirty="0"/>
        </a:p>
      </dsp:txBody>
      <dsp:txXfrm>
        <a:off x="9639" y="2510139"/>
        <a:ext cx="2118682" cy="187774"/>
      </dsp:txXfrm>
    </dsp:sp>
    <dsp:sp modelId="{1315CD1F-A4E8-4CA8-B6CD-396F0B977DAC}">
      <dsp:nvSpPr>
        <dsp:cNvPr id="0" name=""/>
        <dsp:cNvSpPr/>
      </dsp:nvSpPr>
      <dsp:spPr>
        <a:xfrm>
          <a:off x="0" y="2697913"/>
          <a:ext cx="8222925" cy="531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55" tIns="20955" rIns="20955" bIns="20955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Tehnika koja stvara nove karakteristike kao linearne kombinacije originalnih, pri čemu su one međusobno nekorelisane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Prvih nekoliko glavnih komponenti objašnjava najveći deo varijanse(MFP,fr_COO2,fr_ester grupe tipicne za inhibitore tripsina, qed)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RS" sz="1100" kern="1200" dirty="0" smtClean="0"/>
            <a:t>Zadržano 100 komponenti koje objašnjavaju ~97% ukupne varijanse originalnih podataka; Matrica postaje N x 100</a:t>
          </a:r>
          <a:endParaRPr lang="en-US" sz="1100" kern="1200" dirty="0"/>
        </a:p>
      </dsp:txBody>
      <dsp:txXfrm>
        <a:off x="0" y="2697913"/>
        <a:ext cx="8222925" cy="5310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TabList">
  <dgm:title val="Tab List"/>
  <dgm:desc val="Use to show non-sequential or grouped blocks of information. Works well for lists with a small amount of Level 1 text. The first Level 2 displays next to the Level 1 text  and the remaining Level 2 text appears beneath the Level 1 text."/>
  <dgm:catLst>
    <dgm:cat type="list" pri="4500"/>
    <dgm:cat type="officeonline" pri="11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0" srcId="0" destId="10" srcOrd="0" destOrd="0"/>
        <dgm:cxn modelId="41" srcId="10" destId="11" srcOrd="0" destOrd="0"/>
        <dgm:cxn modelId="42" srcId="10" destId="12" srcOrd="0" destOrd="0"/>
        <dgm:cxn modelId="50" srcId="0" destId="20" srcOrd="1" destOrd="0"/>
        <dgm:cxn modelId="51" srcId="20" destId="21" srcOrd="1" destOrd="0"/>
        <dgm:cxn modelId="52" srcId="20" destId="22" srcOrd="1" destOrd="0"/>
        <dgm:cxn modelId="60" srcId="0" destId="30" srcOrd="2" destOrd="0"/>
        <dgm:cxn modelId="61" srcId="30" destId="31" srcOrd="2" destOrd="0"/>
        <dgm:cxn modelId="62" srcId="30" destId="32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/>
      <dgm:chPref val="3"/>
      <dgm:dir/>
      <dgm:animOne val="branch"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w" for="ch" forName="Child" refType="w"/>
      <dgm:constr type="h" for="ch" forName="Child" refType="h" fact="0.6667"/>
      <dgm:constr type="primFontSz" for="des" forName="Parent" op="equ" val="65"/>
      <dgm:constr type="primFontSz" for="des" forName="Child" op="equ" val="65"/>
      <dgm:constr type="primFontSz" for="des" forName="FirstChild" op="equ" val="65"/>
      <dgm:constr type="primFontSz" for="des" forName="Child" refType="primFontSz" refFor="des" refForName="Parent" op="lte"/>
      <dgm:constr type="primFontSz" for="des" forName="FirstChild" refType="primFontSz" refFor="des" refForName="Parent" op="lte"/>
      <dgm:constr type="primFontSz" for="des" forName="Child" refType="primFontSz" refFor="des" refForName="FirstChild" op="lte"/>
      <dgm:constr type="w" for="ch" forName="composite" refType="w"/>
      <dgm:constr type="h" for="ch" forName="composite" refType="h" fact="0.3333"/>
      <dgm:constr type="sp" refType="h" refFor="ch" refForName="composite" op="equ" fact="0.05"/>
      <dgm:constr type="h" for="ch" forName="sibTrans" refType="h" refFor="ch" refForName="composite" op="equ" fact="0.05"/>
      <dgm:constr type="w" for="ch" forName="sibTrans" refType="h" refFor="ch" refForName="sibTrans" op="equ"/>
    </dgm:constrLst>
    <dgm:forEach name="nodesForEach" axis="ch" ptType="node">
      <dgm:layoutNode name="composite">
        <dgm:alg type="composite"/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l" for="ch" forName="FirstChild" refType="w" fact="0.26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l" for="ch" forName="Parent" refType="w" fact="0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if>
          <dgm:else name="Name3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r" for="ch" forName="FirstChild" refType="w" fact="0.74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r" for="ch" forName="Parent" refType="w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else>
        </dgm:choose>
        <dgm:layoutNode name="FirstChild" styleLbl="revTx">
          <dgm:varLst>
            <dgm:chMax val="0"/>
            <dgm:chPref val="0"/>
            <dgm:bulletEnabled val="1"/>
          </dgm:varLst>
          <dgm:choose name="Name4">
            <dgm:if name="Name5" func="var" arg="dir" op="equ" val="norm">
              <dgm:alg type="tx">
                <dgm:param type="parTxLTRAlign" val="l"/>
                <dgm:param type="txAnchorVert" val="b"/>
                <dgm:param type="txAnchorVertCh" val="b"/>
                <dgm:param type="parTxRTLAlign" val="l"/>
              </dgm:alg>
            </dgm:if>
            <dgm:else name="Name6">
              <dgm:alg type="tx">
                <dgm:param type="parTxLTRAlign" val="r"/>
                <dgm:param type="shpTxLTRAlignCh" val="r"/>
                <dgm:param type="txAnchorVert" val="b"/>
                <dgm:param type="txAnchorVertCh" val="b"/>
                <dgm:param type="parTxRTLAlign" val="r"/>
              </dgm:alg>
            </dgm:else>
          </dgm:choose>
          <dgm:shape xmlns:r="http://schemas.openxmlformats.org/officeDocument/2006/relationships" type="rect" r:blip="">
            <dgm:adjLst/>
          </dgm:shape>
          <dgm:choose name="Name7">
            <dgm:if name="Name8" axis="ch" ptType="node" func="cnt" op="gte" val="1">
              <dgm:presOf axis="ch desOrSelf" ptType="node node" st="1 1" cnt="1 0"/>
            </dgm:if>
            <dgm:else name="Name9">
              <dgm:presOf/>
            </dgm:else>
          </dgm:choose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Parent" styleLbl="alignNode1">
          <dgm:varLst>
            <dgm:chMax val="3"/>
            <dgm:chPref val="3"/>
            <dgm:bulletEnabled val="1"/>
          </dgm:varLst>
          <dgm:alg type="tx">
            <dgm:param type="shpTxLTRAlignCh" val="ctr"/>
            <dgm:param type="txAnchorVertCh" val="mid"/>
          </dgm:alg>
          <dgm:shape xmlns:r="http://schemas.openxmlformats.org/officeDocument/2006/relationships" type="round2SameRect" r:blip="">
            <dgm:adjLst>
              <dgm:adj idx="1" val="0.1667"/>
              <dgm:adj idx="2" val="0"/>
            </dgm:adjLst>
          </dgm:shape>
          <dgm:presOf axis="self" ptType="node"/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Accent" styleLbl="parChTrans1D1">
          <dgm:alg type="sp"/>
          <dgm:shape xmlns:r="http://schemas.openxmlformats.org/officeDocument/2006/relationships" type="line" r:blip="" zOrderOff="-99999">
            <dgm:adjLst/>
          </dgm:shape>
          <dgm:presOf/>
        </dgm:layoutNode>
      </dgm:layoutNode>
      <dgm:choose name="Name10">
        <dgm:if name="Name11" axis="ch" ptType="node" st="2" cnt="1" func="cnt" op="gte" val="1">
          <dgm:layoutNode name="Child" styleLbl="revTx">
            <dgm:varLst>
              <dgm:chMax val="0"/>
              <dgm:chPref val="0"/>
              <dgm:bulletEnabled val="1"/>
            </dgm:varLst>
            <dgm:choose name="Name12">
              <dgm:if name="Name13" func="var" arg="dir" op="equ" val="norm">
                <dgm:alg type="tx">
                  <dgm:param type="stBulletLvl" val="1"/>
                  <dgm:param type="parTxLTRAlign" val="l"/>
                  <dgm:param type="parTxRTLAlign" val="l"/>
                  <dgm:param type="txAnchorVert" val="t"/>
                </dgm:alg>
              </dgm:if>
              <dgm:else name="Name14">
                <dgm:alg type="tx">
                  <dgm:param type="stBulletLvl" val="1"/>
                  <dgm:param type="parTxLTRAlign" val="r"/>
                  <dgm:param type="shpTxLTRAlignCh" val="r"/>
                  <dgm:param type="txAnchorVert" val="t"/>
                  <dgm:param type="parTxRTLAlign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ch desOrSelf" ptType="node node" st="2 1" cnt="0 0"/>
            <dgm:constrLst>
              <dgm:constr type="lMarg" refType="primFontSz" fact="0.15"/>
              <dgm:constr type="rMarg" refType="primFontSz" fact="0.15"/>
              <dgm:constr type="tMarg" refType="primFontSz" fact="0.15"/>
              <dgm:constr type="bMarg" refType="primFontSz" fact="0.15"/>
            </dgm:constrLst>
            <dgm:ruleLst>
              <dgm:rule type="primFontSz" val="5" fact="NaN" max="NaN"/>
            </dgm:ruleLst>
          </dgm:layoutNode>
        </dgm:if>
        <dgm:else name="Name15"/>
      </dgm:choos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311850"/>
            <a:ext cx="4708200" cy="23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Questrial"/>
              <a:buNone/>
              <a:defRPr sz="5200" b="1">
                <a:solidFill>
                  <a:srgbClr val="191919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613150"/>
            <a:ext cx="4708200" cy="41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2"/>
          </p:nvPr>
        </p:nvSpPr>
        <p:spPr>
          <a:xfrm>
            <a:off x="6500950" y="539500"/>
            <a:ext cx="1929900" cy="4572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solidFill>
                  <a:schemeClr val="dk2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Questrial"/>
              <a:buNone/>
              <a:defRPr sz="2000" b="1"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7697" y="-361624"/>
            <a:ext cx="9810337" cy="1466543"/>
            <a:chOff x="-237697" y="-361624"/>
            <a:chExt cx="9810337" cy="1466543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-237697" y="-361624"/>
              <a:ext cx="1695668" cy="1466543"/>
              <a:chOff x="-237697" y="-361624"/>
              <a:chExt cx="1695668" cy="1466543"/>
            </a:xfrm>
          </p:grpSpPr>
          <p:sp>
            <p:nvSpPr>
              <p:cNvPr id="14" name="Google Shape;14;p2"/>
              <p:cNvSpPr/>
              <p:nvPr/>
            </p:nvSpPr>
            <p:spPr>
              <a:xfrm>
                <a:off x="-237697" y="-361624"/>
                <a:ext cx="643114" cy="557086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52" extrusionOk="0">
                    <a:moveTo>
                      <a:pt x="3796" y="1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7" y="13151"/>
                    </a:lnTo>
                    <a:lnTo>
                      <a:pt x="15183" y="6575"/>
                    </a:lnTo>
                    <a:lnTo>
                      <a:pt x="11387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288516" y="547875"/>
                <a:ext cx="643199" cy="55704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7" y="1"/>
                    </a:moveTo>
                    <a:lnTo>
                      <a:pt x="1" y="6576"/>
                    </a:lnTo>
                    <a:lnTo>
                      <a:pt x="3797" y="13151"/>
                    </a:lnTo>
                    <a:lnTo>
                      <a:pt x="11389" y="13151"/>
                    </a:lnTo>
                    <a:lnTo>
                      <a:pt x="15185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-237697" y="-361624"/>
                <a:ext cx="643114" cy="557086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52" extrusionOk="0">
                    <a:moveTo>
                      <a:pt x="3796" y="1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7" y="13151"/>
                    </a:lnTo>
                    <a:lnTo>
                      <a:pt x="15183" y="6575"/>
                    </a:lnTo>
                    <a:lnTo>
                      <a:pt x="11387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-237697" y="244765"/>
                <a:ext cx="643114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7" y="13148"/>
                    </a:lnTo>
                    <a:lnTo>
                      <a:pt x="15183" y="6574"/>
                    </a:lnTo>
                    <a:lnTo>
                      <a:pt x="11387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88516" y="-58430"/>
                <a:ext cx="643199" cy="557001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0" extrusionOk="0">
                    <a:moveTo>
                      <a:pt x="3797" y="0"/>
                    </a:moveTo>
                    <a:lnTo>
                      <a:pt x="1" y="6576"/>
                    </a:lnTo>
                    <a:lnTo>
                      <a:pt x="3797" y="13150"/>
                    </a:lnTo>
                    <a:lnTo>
                      <a:pt x="11389" y="13150"/>
                    </a:lnTo>
                    <a:lnTo>
                      <a:pt x="15185" y="6576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814814" y="244765"/>
                <a:ext cx="643156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4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9" y="13148"/>
                    </a:lnTo>
                    <a:lnTo>
                      <a:pt x="15183" y="6574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5">
                  <a:alpha val="5443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0" name="Google Shape;20;p2"/>
            <p:cNvSpPr/>
            <p:nvPr/>
          </p:nvSpPr>
          <p:spPr>
            <a:xfrm>
              <a:off x="8830749" y="44251"/>
              <a:ext cx="741890" cy="642509"/>
            </a:xfrm>
            <a:custGeom>
              <a:avLst/>
              <a:gdLst/>
              <a:ahLst/>
              <a:cxnLst/>
              <a:rect l="l" t="t" r="r" b="b"/>
              <a:pathLst>
                <a:path w="15184" h="13150" extrusionOk="0">
                  <a:moveTo>
                    <a:pt x="3797" y="0"/>
                  </a:moveTo>
                  <a:lnTo>
                    <a:pt x="0" y="6575"/>
                  </a:lnTo>
                  <a:lnTo>
                    <a:pt x="3797" y="13149"/>
                  </a:lnTo>
                  <a:lnTo>
                    <a:pt x="11388" y="13149"/>
                  </a:lnTo>
                  <a:lnTo>
                    <a:pt x="15184" y="6575"/>
                  </a:lnTo>
                  <a:lnTo>
                    <a:pt x="113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1" name="Google Shape;21;p2"/>
          <p:cNvPicPr preferRelativeResize="0"/>
          <p:nvPr/>
        </p:nvPicPr>
        <p:blipFill rotWithShape="1">
          <a:blip r:embed="rId2">
            <a:alphaModFix/>
          </a:blip>
          <a:srcRect t="18966" b="18972"/>
          <a:stretch/>
        </p:blipFill>
        <p:spPr>
          <a:xfrm>
            <a:off x="124825" y="4026854"/>
            <a:ext cx="1695600" cy="105232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grpSp>
        <p:nvGrpSpPr>
          <p:cNvPr id="77" name="Google Shape;77;p6"/>
          <p:cNvGrpSpPr/>
          <p:nvPr/>
        </p:nvGrpSpPr>
        <p:grpSpPr>
          <a:xfrm>
            <a:off x="-499823" y="-218749"/>
            <a:ext cx="9980037" cy="5560573"/>
            <a:chOff x="-499823" y="-218749"/>
            <a:chExt cx="9980037" cy="5560573"/>
          </a:xfrm>
        </p:grpSpPr>
        <p:grpSp>
          <p:nvGrpSpPr>
            <p:cNvPr id="78" name="Google Shape;78;p6"/>
            <p:cNvGrpSpPr/>
            <p:nvPr/>
          </p:nvGrpSpPr>
          <p:grpSpPr>
            <a:xfrm>
              <a:off x="-499823" y="-218749"/>
              <a:ext cx="1169438" cy="1769623"/>
              <a:chOff x="-237723" y="-361624"/>
              <a:chExt cx="1169438" cy="1769623"/>
            </a:xfrm>
          </p:grpSpPr>
          <p:sp>
            <p:nvSpPr>
              <p:cNvPr id="79" name="Google Shape;79;p6"/>
              <p:cNvSpPr/>
              <p:nvPr/>
            </p:nvSpPr>
            <p:spPr>
              <a:xfrm>
                <a:off x="288516" y="547875"/>
                <a:ext cx="643199" cy="55704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7" y="1"/>
                    </a:moveTo>
                    <a:lnTo>
                      <a:pt x="1" y="6576"/>
                    </a:lnTo>
                    <a:lnTo>
                      <a:pt x="3797" y="13151"/>
                    </a:lnTo>
                    <a:lnTo>
                      <a:pt x="11389" y="13151"/>
                    </a:lnTo>
                    <a:lnTo>
                      <a:pt x="15185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6"/>
              <p:cNvSpPr/>
              <p:nvPr/>
            </p:nvSpPr>
            <p:spPr>
              <a:xfrm>
                <a:off x="-237697" y="-361624"/>
                <a:ext cx="643114" cy="557086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52" extrusionOk="0">
                    <a:moveTo>
                      <a:pt x="3796" y="1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7" y="13151"/>
                    </a:lnTo>
                    <a:lnTo>
                      <a:pt x="15183" y="6575"/>
                    </a:lnTo>
                    <a:lnTo>
                      <a:pt x="11387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6"/>
              <p:cNvSpPr/>
              <p:nvPr/>
            </p:nvSpPr>
            <p:spPr>
              <a:xfrm>
                <a:off x="-237697" y="244765"/>
                <a:ext cx="643114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7" y="13148"/>
                    </a:lnTo>
                    <a:lnTo>
                      <a:pt x="15183" y="6574"/>
                    </a:lnTo>
                    <a:lnTo>
                      <a:pt x="11387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6"/>
              <p:cNvSpPr/>
              <p:nvPr/>
            </p:nvSpPr>
            <p:spPr>
              <a:xfrm>
                <a:off x="288516" y="-58430"/>
                <a:ext cx="643199" cy="557001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0" extrusionOk="0">
                    <a:moveTo>
                      <a:pt x="3797" y="0"/>
                    </a:moveTo>
                    <a:lnTo>
                      <a:pt x="1" y="6576"/>
                    </a:lnTo>
                    <a:lnTo>
                      <a:pt x="3797" y="13150"/>
                    </a:lnTo>
                    <a:lnTo>
                      <a:pt x="11389" y="13150"/>
                    </a:lnTo>
                    <a:lnTo>
                      <a:pt x="15185" y="6576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6"/>
              <p:cNvSpPr/>
              <p:nvPr/>
            </p:nvSpPr>
            <p:spPr>
              <a:xfrm>
                <a:off x="-237723" y="851040"/>
                <a:ext cx="643156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4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9" y="13148"/>
                    </a:lnTo>
                    <a:lnTo>
                      <a:pt x="15183" y="6574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5">
                  <a:alpha val="5443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4" name="Google Shape;84;p6"/>
            <p:cNvGrpSpPr/>
            <p:nvPr/>
          </p:nvGrpSpPr>
          <p:grpSpPr>
            <a:xfrm>
              <a:off x="8694225" y="86051"/>
              <a:ext cx="785989" cy="1163348"/>
              <a:chOff x="8694225" y="86051"/>
              <a:chExt cx="785989" cy="1163348"/>
            </a:xfrm>
          </p:grpSpPr>
          <p:sp>
            <p:nvSpPr>
              <p:cNvPr id="85" name="Google Shape;85;p6"/>
              <p:cNvSpPr/>
              <p:nvPr/>
            </p:nvSpPr>
            <p:spPr>
              <a:xfrm flipH="1">
                <a:off x="8694225" y="86051"/>
                <a:ext cx="643114" cy="557086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52" extrusionOk="0">
                    <a:moveTo>
                      <a:pt x="3796" y="1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7" y="13151"/>
                    </a:lnTo>
                    <a:lnTo>
                      <a:pt x="15183" y="6575"/>
                    </a:lnTo>
                    <a:lnTo>
                      <a:pt x="11387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6"/>
              <p:cNvSpPr/>
              <p:nvPr/>
            </p:nvSpPr>
            <p:spPr>
              <a:xfrm flipH="1">
                <a:off x="8837100" y="692440"/>
                <a:ext cx="643114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7" y="13148"/>
                    </a:lnTo>
                    <a:lnTo>
                      <a:pt x="15183" y="6574"/>
                    </a:lnTo>
                    <a:lnTo>
                      <a:pt x="1138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" name="Google Shape;87;p6"/>
            <p:cNvGrpSpPr/>
            <p:nvPr/>
          </p:nvGrpSpPr>
          <p:grpSpPr>
            <a:xfrm rot="5400000" flipH="1">
              <a:off x="8364552" y="4438545"/>
              <a:ext cx="643199" cy="1163348"/>
              <a:chOff x="8529877" y="4094470"/>
              <a:chExt cx="643199" cy="1163348"/>
            </a:xfrm>
          </p:grpSpPr>
          <p:sp>
            <p:nvSpPr>
              <p:cNvPr id="88" name="Google Shape;88;p6"/>
              <p:cNvSpPr/>
              <p:nvPr/>
            </p:nvSpPr>
            <p:spPr>
              <a:xfrm flipH="1">
                <a:off x="8529877" y="4700775"/>
                <a:ext cx="643199" cy="55704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7" y="1"/>
                    </a:moveTo>
                    <a:lnTo>
                      <a:pt x="1" y="6576"/>
                    </a:lnTo>
                    <a:lnTo>
                      <a:pt x="3797" y="13151"/>
                    </a:lnTo>
                    <a:lnTo>
                      <a:pt x="11389" y="13151"/>
                    </a:lnTo>
                    <a:lnTo>
                      <a:pt x="15185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6"/>
              <p:cNvSpPr/>
              <p:nvPr/>
            </p:nvSpPr>
            <p:spPr>
              <a:xfrm flipH="1">
                <a:off x="8529877" y="4094470"/>
                <a:ext cx="643199" cy="557001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0" extrusionOk="0">
                    <a:moveTo>
                      <a:pt x="3797" y="0"/>
                    </a:moveTo>
                    <a:lnTo>
                      <a:pt x="1" y="6576"/>
                    </a:lnTo>
                    <a:lnTo>
                      <a:pt x="3797" y="13150"/>
                    </a:lnTo>
                    <a:lnTo>
                      <a:pt x="11389" y="13150"/>
                    </a:lnTo>
                    <a:lnTo>
                      <a:pt x="15185" y="6576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3">
                  <a:alpha val="58859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" name="Google Shape;90;p6"/>
            <p:cNvSpPr/>
            <p:nvPr/>
          </p:nvSpPr>
          <p:spPr>
            <a:xfrm flipH="1">
              <a:off x="-236679" y="4784865"/>
              <a:ext cx="643156" cy="556959"/>
            </a:xfrm>
            <a:custGeom>
              <a:avLst/>
              <a:gdLst/>
              <a:ahLst/>
              <a:cxnLst/>
              <a:rect l="l" t="t" r="r" b="b"/>
              <a:pathLst>
                <a:path w="15184" h="13149" extrusionOk="0">
                  <a:moveTo>
                    <a:pt x="3796" y="0"/>
                  </a:moveTo>
                  <a:lnTo>
                    <a:pt x="0" y="6574"/>
                  </a:lnTo>
                  <a:lnTo>
                    <a:pt x="3796" y="13148"/>
                  </a:lnTo>
                  <a:lnTo>
                    <a:pt x="11389" y="13148"/>
                  </a:lnTo>
                  <a:lnTo>
                    <a:pt x="15183" y="657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chemeClr val="accent3">
                <a:alpha val="5885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" name="Google Shape;91;p6"/>
          <p:cNvGrpSpPr/>
          <p:nvPr/>
        </p:nvGrpSpPr>
        <p:grpSpPr>
          <a:xfrm>
            <a:off x="-524099" y="1366315"/>
            <a:ext cx="9943649" cy="1595970"/>
            <a:chOff x="-524099" y="1366315"/>
            <a:chExt cx="9943649" cy="1595970"/>
          </a:xfrm>
        </p:grpSpPr>
        <p:pic>
          <p:nvPicPr>
            <p:cNvPr id="92" name="Google Shape;92;p6"/>
            <p:cNvPicPr preferRelativeResize="0"/>
            <p:nvPr/>
          </p:nvPicPr>
          <p:blipFill rotWithShape="1">
            <a:blip r:embed="rId2">
              <a:alphaModFix/>
            </a:blip>
            <a:srcRect l="22594" t="6732" r="22589" b="6732"/>
            <a:stretch/>
          </p:blipFill>
          <p:spPr>
            <a:xfrm>
              <a:off x="8562975" y="1610050"/>
              <a:ext cx="856575" cy="1352225"/>
            </a:xfrm>
            <a:prstGeom prst="rect">
              <a:avLst/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</p:pic>
        <p:pic>
          <p:nvPicPr>
            <p:cNvPr id="93" name="Google Shape;93;p6"/>
            <p:cNvPicPr preferRelativeResize="0"/>
            <p:nvPr/>
          </p:nvPicPr>
          <p:blipFill rotWithShape="1">
            <a:blip r:embed="rId2">
              <a:alphaModFix/>
            </a:blip>
            <a:srcRect l="22594" t="6732" r="22589" b="6732"/>
            <a:stretch/>
          </p:blipFill>
          <p:spPr>
            <a:xfrm rot="-9123115">
              <a:off x="-257175" y="1488188"/>
              <a:ext cx="856575" cy="1352224"/>
            </a:xfrm>
            <a:prstGeom prst="rect">
              <a:avLst/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</p:pic>
      </p:grpSp>
      <p:sp>
        <p:nvSpPr>
          <p:cNvPr id="20" name="Google Shape;96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42948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lbert Sans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3" name="Google Shape;553;p33"/>
          <p:cNvGrpSpPr/>
          <p:nvPr/>
        </p:nvGrpSpPr>
        <p:grpSpPr>
          <a:xfrm>
            <a:off x="-135050" y="-373775"/>
            <a:ext cx="9536572" cy="5840717"/>
            <a:chOff x="-135050" y="-373775"/>
            <a:chExt cx="9536572" cy="5840717"/>
          </a:xfrm>
        </p:grpSpPr>
        <p:grpSp>
          <p:nvGrpSpPr>
            <p:cNvPr id="554" name="Google Shape;554;p33"/>
            <p:cNvGrpSpPr/>
            <p:nvPr/>
          </p:nvGrpSpPr>
          <p:grpSpPr>
            <a:xfrm>
              <a:off x="7148219" y="4287222"/>
              <a:ext cx="2253303" cy="1179720"/>
              <a:chOff x="7319525" y="4220750"/>
              <a:chExt cx="2119758" cy="1109803"/>
            </a:xfrm>
          </p:grpSpPr>
          <p:sp>
            <p:nvSpPr>
              <p:cNvPr id="555" name="Google Shape;555;p33"/>
              <p:cNvSpPr/>
              <p:nvPr/>
            </p:nvSpPr>
            <p:spPr>
              <a:xfrm>
                <a:off x="7319525" y="4509915"/>
                <a:ext cx="613585" cy="531392"/>
              </a:xfrm>
              <a:custGeom>
                <a:avLst/>
                <a:gdLst/>
                <a:ahLst/>
                <a:cxnLst/>
                <a:rect l="l" t="t" r="r" b="b"/>
                <a:pathLst>
                  <a:path w="15184" h="13150" extrusionOk="0">
                    <a:moveTo>
                      <a:pt x="3796" y="1"/>
                    </a:moveTo>
                    <a:lnTo>
                      <a:pt x="1" y="6576"/>
                    </a:lnTo>
                    <a:lnTo>
                      <a:pt x="3796" y="13150"/>
                    </a:lnTo>
                    <a:lnTo>
                      <a:pt x="11389" y="13150"/>
                    </a:lnTo>
                    <a:lnTo>
                      <a:pt x="15183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5">
                  <a:alpha val="5443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33"/>
              <p:cNvSpPr/>
              <p:nvPr/>
            </p:nvSpPr>
            <p:spPr>
              <a:xfrm>
                <a:off x="8323586" y="4509915"/>
                <a:ext cx="613666" cy="531392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0" extrusionOk="0">
                    <a:moveTo>
                      <a:pt x="3796" y="1"/>
                    </a:moveTo>
                    <a:lnTo>
                      <a:pt x="1" y="6576"/>
                    </a:lnTo>
                    <a:lnTo>
                      <a:pt x="3796" y="13150"/>
                    </a:lnTo>
                    <a:lnTo>
                      <a:pt x="11389" y="13150"/>
                    </a:lnTo>
                    <a:lnTo>
                      <a:pt x="15186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dk1">
                  <a:alpha val="177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33"/>
              <p:cNvSpPr/>
              <p:nvPr/>
            </p:nvSpPr>
            <p:spPr>
              <a:xfrm>
                <a:off x="8825617" y="4220750"/>
                <a:ext cx="613666" cy="531351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49" extrusionOk="0">
                    <a:moveTo>
                      <a:pt x="3797" y="0"/>
                    </a:moveTo>
                    <a:lnTo>
                      <a:pt x="1" y="6573"/>
                    </a:lnTo>
                    <a:lnTo>
                      <a:pt x="3797" y="13148"/>
                    </a:lnTo>
                    <a:lnTo>
                      <a:pt x="11389" y="13148"/>
                    </a:lnTo>
                    <a:lnTo>
                      <a:pt x="15185" y="6573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33"/>
              <p:cNvSpPr/>
              <p:nvPr/>
            </p:nvSpPr>
            <p:spPr>
              <a:xfrm>
                <a:off x="7821556" y="4799161"/>
                <a:ext cx="613666" cy="531392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0" extrusionOk="0">
                    <a:moveTo>
                      <a:pt x="3797" y="0"/>
                    </a:moveTo>
                    <a:lnTo>
                      <a:pt x="0" y="6576"/>
                    </a:lnTo>
                    <a:lnTo>
                      <a:pt x="3797" y="13150"/>
                    </a:lnTo>
                    <a:lnTo>
                      <a:pt x="11389" y="13150"/>
                    </a:lnTo>
                    <a:lnTo>
                      <a:pt x="15185" y="6576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33"/>
              <p:cNvSpPr/>
              <p:nvPr/>
            </p:nvSpPr>
            <p:spPr>
              <a:xfrm>
                <a:off x="8825617" y="4799161"/>
                <a:ext cx="613666" cy="531392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0" extrusionOk="0">
                    <a:moveTo>
                      <a:pt x="3797" y="0"/>
                    </a:moveTo>
                    <a:lnTo>
                      <a:pt x="1" y="6576"/>
                    </a:lnTo>
                    <a:lnTo>
                      <a:pt x="3797" y="13150"/>
                    </a:lnTo>
                    <a:lnTo>
                      <a:pt x="11389" y="13150"/>
                    </a:lnTo>
                    <a:lnTo>
                      <a:pt x="15185" y="6576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0" name="Google Shape;560;p33"/>
            <p:cNvGrpSpPr/>
            <p:nvPr/>
          </p:nvGrpSpPr>
          <p:grpSpPr>
            <a:xfrm>
              <a:off x="-135050" y="-373775"/>
              <a:ext cx="2230134" cy="863394"/>
              <a:chOff x="-135050" y="-373775"/>
              <a:chExt cx="2230134" cy="863394"/>
            </a:xfrm>
          </p:grpSpPr>
          <p:sp>
            <p:nvSpPr>
              <p:cNvPr id="561" name="Google Shape;561;p33"/>
              <p:cNvSpPr/>
              <p:nvPr/>
            </p:nvSpPr>
            <p:spPr>
              <a:xfrm>
                <a:off x="393102" y="-69506"/>
                <a:ext cx="645595" cy="559124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2" extrusionOk="0">
                    <a:moveTo>
                      <a:pt x="3797" y="1"/>
                    </a:moveTo>
                    <a:lnTo>
                      <a:pt x="1" y="6576"/>
                    </a:lnTo>
                    <a:lnTo>
                      <a:pt x="3797" y="13151"/>
                    </a:lnTo>
                    <a:lnTo>
                      <a:pt x="11389" y="13151"/>
                    </a:lnTo>
                    <a:lnTo>
                      <a:pt x="15186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5">
                  <a:alpha val="5443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3"/>
              <p:cNvSpPr/>
              <p:nvPr/>
            </p:nvSpPr>
            <p:spPr>
              <a:xfrm>
                <a:off x="-135050" y="-373775"/>
                <a:ext cx="645552" cy="559082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6" y="0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8" y="13151"/>
                    </a:lnTo>
                    <a:lnTo>
                      <a:pt x="15185" y="6575"/>
                    </a:lnTo>
                    <a:lnTo>
                      <a:pt x="11388" y="0"/>
                    </a:lnTo>
                    <a:close/>
                  </a:path>
                </a:pathLst>
              </a:custGeom>
              <a:solidFill>
                <a:schemeClr val="dk1">
                  <a:alpha val="177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3"/>
              <p:cNvSpPr/>
              <p:nvPr/>
            </p:nvSpPr>
            <p:spPr>
              <a:xfrm>
                <a:off x="921338" y="-373775"/>
                <a:ext cx="645595" cy="559082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1" extrusionOk="0">
                    <a:moveTo>
                      <a:pt x="3796" y="0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9" y="13151"/>
                    </a:lnTo>
                    <a:lnTo>
                      <a:pt x="15185" y="6575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dk1">
                  <a:alpha val="177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3"/>
              <p:cNvSpPr/>
              <p:nvPr/>
            </p:nvSpPr>
            <p:spPr>
              <a:xfrm>
                <a:off x="1449532" y="-69506"/>
                <a:ext cx="645552" cy="559124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2" extrusionOk="0">
                    <a:moveTo>
                      <a:pt x="3796" y="1"/>
                    </a:moveTo>
                    <a:lnTo>
                      <a:pt x="0" y="6576"/>
                    </a:lnTo>
                    <a:lnTo>
                      <a:pt x="3796" y="13151"/>
                    </a:lnTo>
                    <a:lnTo>
                      <a:pt x="11388" y="13151"/>
                    </a:lnTo>
                    <a:lnTo>
                      <a:pt x="15185" y="6576"/>
                    </a:lnTo>
                    <a:lnTo>
                      <a:pt x="1138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65" name="Google Shape;565;p33"/>
          <p:cNvGrpSpPr/>
          <p:nvPr/>
        </p:nvGrpSpPr>
        <p:grpSpPr>
          <a:xfrm>
            <a:off x="0" y="112950"/>
            <a:ext cx="9077325" cy="4867275"/>
            <a:chOff x="0" y="112950"/>
            <a:chExt cx="9077325" cy="4867275"/>
          </a:xfrm>
        </p:grpSpPr>
        <p:pic>
          <p:nvPicPr>
            <p:cNvPr id="566" name="Google Shape;566;p3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7877175" y="112950"/>
              <a:ext cx="1200150" cy="1200150"/>
            </a:xfrm>
            <a:prstGeom prst="rect">
              <a:avLst/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</p:pic>
        <p:pic>
          <p:nvPicPr>
            <p:cNvPr id="567" name="Google Shape;567;p3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3780075"/>
              <a:ext cx="1200150" cy="1200150"/>
            </a:xfrm>
            <a:prstGeom prst="rect">
              <a:avLst/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9" name="Google Shape;569;p34"/>
          <p:cNvGrpSpPr/>
          <p:nvPr/>
        </p:nvGrpSpPr>
        <p:grpSpPr>
          <a:xfrm rot="10800000" flipH="1">
            <a:off x="-237697" y="4154451"/>
            <a:ext cx="9810337" cy="1466543"/>
            <a:chOff x="-237697" y="-361624"/>
            <a:chExt cx="9810337" cy="1466543"/>
          </a:xfrm>
        </p:grpSpPr>
        <p:grpSp>
          <p:nvGrpSpPr>
            <p:cNvPr id="570" name="Google Shape;570;p34"/>
            <p:cNvGrpSpPr/>
            <p:nvPr/>
          </p:nvGrpSpPr>
          <p:grpSpPr>
            <a:xfrm>
              <a:off x="-237697" y="-361624"/>
              <a:ext cx="1695668" cy="1466543"/>
              <a:chOff x="-237697" y="-361624"/>
              <a:chExt cx="1695668" cy="1466543"/>
            </a:xfrm>
          </p:grpSpPr>
          <p:sp>
            <p:nvSpPr>
              <p:cNvPr id="571" name="Google Shape;571;p34"/>
              <p:cNvSpPr/>
              <p:nvPr/>
            </p:nvSpPr>
            <p:spPr>
              <a:xfrm>
                <a:off x="-237697" y="-361624"/>
                <a:ext cx="643114" cy="557086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52" extrusionOk="0">
                    <a:moveTo>
                      <a:pt x="3796" y="1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7" y="13151"/>
                    </a:lnTo>
                    <a:lnTo>
                      <a:pt x="15183" y="6575"/>
                    </a:lnTo>
                    <a:lnTo>
                      <a:pt x="11387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34"/>
              <p:cNvSpPr/>
              <p:nvPr/>
            </p:nvSpPr>
            <p:spPr>
              <a:xfrm>
                <a:off x="288516" y="547875"/>
                <a:ext cx="643199" cy="55704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7" y="1"/>
                    </a:moveTo>
                    <a:lnTo>
                      <a:pt x="1" y="6576"/>
                    </a:lnTo>
                    <a:lnTo>
                      <a:pt x="3797" y="13151"/>
                    </a:lnTo>
                    <a:lnTo>
                      <a:pt x="11389" y="13151"/>
                    </a:lnTo>
                    <a:lnTo>
                      <a:pt x="15185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34"/>
              <p:cNvSpPr/>
              <p:nvPr/>
            </p:nvSpPr>
            <p:spPr>
              <a:xfrm>
                <a:off x="-237697" y="-361624"/>
                <a:ext cx="643114" cy="557086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52" extrusionOk="0">
                    <a:moveTo>
                      <a:pt x="3796" y="1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7" y="13151"/>
                    </a:lnTo>
                    <a:lnTo>
                      <a:pt x="15183" y="6575"/>
                    </a:lnTo>
                    <a:lnTo>
                      <a:pt x="11387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4"/>
              <p:cNvSpPr/>
              <p:nvPr/>
            </p:nvSpPr>
            <p:spPr>
              <a:xfrm>
                <a:off x="-237697" y="244765"/>
                <a:ext cx="643114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3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7" y="13148"/>
                    </a:lnTo>
                    <a:lnTo>
                      <a:pt x="15183" y="6574"/>
                    </a:lnTo>
                    <a:lnTo>
                      <a:pt x="11387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34"/>
              <p:cNvSpPr/>
              <p:nvPr/>
            </p:nvSpPr>
            <p:spPr>
              <a:xfrm>
                <a:off x="288516" y="-58430"/>
                <a:ext cx="643199" cy="557001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0" extrusionOk="0">
                    <a:moveTo>
                      <a:pt x="3797" y="0"/>
                    </a:moveTo>
                    <a:lnTo>
                      <a:pt x="1" y="6576"/>
                    </a:lnTo>
                    <a:lnTo>
                      <a:pt x="3797" y="13150"/>
                    </a:lnTo>
                    <a:lnTo>
                      <a:pt x="11389" y="13150"/>
                    </a:lnTo>
                    <a:lnTo>
                      <a:pt x="15185" y="6576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34"/>
              <p:cNvSpPr/>
              <p:nvPr/>
            </p:nvSpPr>
            <p:spPr>
              <a:xfrm>
                <a:off x="814814" y="244765"/>
                <a:ext cx="643156" cy="556959"/>
              </a:xfrm>
              <a:custGeom>
                <a:avLst/>
                <a:gdLst/>
                <a:ahLst/>
                <a:cxnLst/>
                <a:rect l="l" t="t" r="r" b="b"/>
                <a:pathLst>
                  <a:path w="15184" h="13149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48"/>
                    </a:lnTo>
                    <a:lnTo>
                      <a:pt x="11389" y="13148"/>
                    </a:lnTo>
                    <a:lnTo>
                      <a:pt x="15183" y="6574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5">
                  <a:alpha val="5443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77" name="Google Shape;577;p34"/>
            <p:cNvSpPr/>
            <p:nvPr/>
          </p:nvSpPr>
          <p:spPr>
            <a:xfrm>
              <a:off x="8830749" y="44251"/>
              <a:ext cx="741890" cy="642509"/>
            </a:xfrm>
            <a:custGeom>
              <a:avLst/>
              <a:gdLst/>
              <a:ahLst/>
              <a:cxnLst/>
              <a:rect l="l" t="t" r="r" b="b"/>
              <a:pathLst>
                <a:path w="15184" h="13150" extrusionOk="0">
                  <a:moveTo>
                    <a:pt x="3797" y="0"/>
                  </a:moveTo>
                  <a:lnTo>
                    <a:pt x="0" y="6575"/>
                  </a:lnTo>
                  <a:lnTo>
                    <a:pt x="3797" y="13149"/>
                  </a:lnTo>
                  <a:lnTo>
                    <a:pt x="11388" y="13149"/>
                  </a:lnTo>
                  <a:lnTo>
                    <a:pt x="15184" y="6575"/>
                  </a:lnTo>
                  <a:lnTo>
                    <a:pt x="113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" name="Google Shape;578;p34"/>
          <p:cNvGrpSpPr/>
          <p:nvPr/>
        </p:nvGrpSpPr>
        <p:grpSpPr>
          <a:xfrm>
            <a:off x="5370950" y="1381125"/>
            <a:ext cx="3268225" cy="3222870"/>
            <a:chOff x="5370950" y="1381125"/>
            <a:chExt cx="3268225" cy="3222870"/>
          </a:xfrm>
        </p:grpSpPr>
        <p:grpSp>
          <p:nvGrpSpPr>
            <p:cNvPr id="579" name="Google Shape;579;p34"/>
            <p:cNvGrpSpPr/>
            <p:nvPr/>
          </p:nvGrpSpPr>
          <p:grpSpPr>
            <a:xfrm>
              <a:off x="5532875" y="1381125"/>
              <a:ext cx="2079270" cy="2507147"/>
              <a:chOff x="-2353825" y="1381125"/>
              <a:chExt cx="2079270" cy="2507147"/>
            </a:xfrm>
          </p:grpSpPr>
          <p:sp>
            <p:nvSpPr>
              <p:cNvPr id="580" name="Google Shape;580;p34"/>
              <p:cNvSpPr/>
              <p:nvPr/>
            </p:nvSpPr>
            <p:spPr>
              <a:xfrm>
                <a:off x="-876451" y="1664810"/>
                <a:ext cx="601895" cy="52127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6" y="1"/>
                    </a:moveTo>
                    <a:lnTo>
                      <a:pt x="0" y="6576"/>
                    </a:lnTo>
                    <a:lnTo>
                      <a:pt x="3796" y="13151"/>
                    </a:lnTo>
                    <a:lnTo>
                      <a:pt x="11388" y="13151"/>
                    </a:lnTo>
                    <a:lnTo>
                      <a:pt x="15185" y="6576"/>
                    </a:lnTo>
                    <a:lnTo>
                      <a:pt x="11388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34"/>
              <p:cNvSpPr/>
              <p:nvPr/>
            </p:nvSpPr>
            <p:spPr>
              <a:xfrm>
                <a:off x="-1861407" y="2232220"/>
                <a:ext cx="601935" cy="521312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2" extrusionOk="0">
                    <a:moveTo>
                      <a:pt x="3797" y="1"/>
                    </a:moveTo>
                    <a:lnTo>
                      <a:pt x="1" y="6576"/>
                    </a:lnTo>
                    <a:lnTo>
                      <a:pt x="3797" y="13151"/>
                    </a:lnTo>
                    <a:lnTo>
                      <a:pt x="11389" y="13151"/>
                    </a:lnTo>
                    <a:lnTo>
                      <a:pt x="15186" y="6576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5">
                  <a:alpha val="5443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34"/>
              <p:cNvSpPr/>
              <p:nvPr/>
            </p:nvSpPr>
            <p:spPr>
              <a:xfrm>
                <a:off x="-876451" y="2799669"/>
                <a:ext cx="601895" cy="52127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6" y="0"/>
                    </a:moveTo>
                    <a:lnTo>
                      <a:pt x="0" y="6574"/>
                    </a:lnTo>
                    <a:lnTo>
                      <a:pt x="3796" y="13150"/>
                    </a:lnTo>
                    <a:lnTo>
                      <a:pt x="11388" y="13150"/>
                    </a:lnTo>
                    <a:lnTo>
                      <a:pt x="15185" y="6574"/>
                    </a:lnTo>
                    <a:lnTo>
                      <a:pt x="11388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34"/>
              <p:cNvSpPr/>
              <p:nvPr/>
            </p:nvSpPr>
            <p:spPr>
              <a:xfrm>
                <a:off x="-1368909" y="1381125"/>
                <a:ext cx="601935" cy="521273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1" extrusionOk="0">
                    <a:moveTo>
                      <a:pt x="3796" y="0"/>
                    </a:moveTo>
                    <a:lnTo>
                      <a:pt x="0" y="6575"/>
                    </a:lnTo>
                    <a:lnTo>
                      <a:pt x="3796" y="13150"/>
                    </a:lnTo>
                    <a:lnTo>
                      <a:pt x="11389" y="13150"/>
                    </a:lnTo>
                    <a:lnTo>
                      <a:pt x="15185" y="6575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34"/>
              <p:cNvSpPr/>
              <p:nvPr/>
            </p:nvSpPr>
            <p:spPr>
              <a:xfrm>
                <a:off x="-2353825" y="1948535"/>
                <a:ext cx="601895" cy="52127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1" extrusionOk="0">
                    <a:moveTo>
                      <a:pt x="3796" y="0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8" y="13151"/>
                    </a:lnTo>
                    <a:lnTo>
                      <a:pt x="15185" y="6575"/>
                    </a:lnTo>
                    <a:lnTo>
                      <a:pt x="11388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34"/>
              <p:cNvSpPr/>
              <p:nvPr/>
            </p:nvSpPr>
            <p:spPr>
              <a:xfrm>
                <a:off x="-1368909" y="1948535"/>
                <a:ext cx="601935" cy="521273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1" extrusionOk="0">
                    <a:moveTo>
                      <a:pt x="3796" y="0"/>
                    </a:moveTo>
                    <a:lnTo>
                      <a:pt x="0" y="6575"/>
                    </a:lnTo>
                    <a:lnTo>
                      <a:pt x="3796" y="13151"/>
                    </a:lnTo>
                    <a:lnTo>
                      <a:pt x="11389" y="13151"/>
                    </a:lnTo>
                    <a:lnTo>
                      <a:pt x="15185" y="6575"/>
                    </a:lnTo>
                    <a:lnTo>
                      <a:pt x="11389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34"/>
              <p:cNvSpPr/>
              <p:nvPr/>
            </p:nvSpPr>
            <p:spPr>
              <a:xfrm>
                <a:off x="-1368909" y="3083315"/>
                <a:ext cx="601935" cy="521233"/>
              </a:xfrm>
              <a:custGeom>
                <a:avLst/>
                <a:gdLst/>
                <a:ahLst/>
                <a:cxnLst/>
                <a:rect l="l" t="t" r="r" b="b"/>
                <a:pathLst>
                  <a:path w="15186" h="13150" extrusionOk="0">
                    <a:moveTo>
                      <a:pt x="3796" y="1"/>
                    </a:moveTo>
                    <a:lnTo>
                      <a:pt x="0" y="6577"/>
                    </a:lnTo>
                    <a:lnTo>
                      <a:pt x="3796" y="13150"/>
                    </a:lnTo>
                    <a:lnTo>
                      <a:pt x="11389" y="13150"/>
                    </a:lnTo>
                    <a:lnTo>
                      <a:pt x="15185" y="6577"/>
                    </a:lnTo>
                    <a:lnTo>
                      <a:pt x="11389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34"/>
              <p:cNvSpPr/>
              <p:nvPr/>
            </p:nvSpPr>
            <p:spPr>
              <a:xfrm>
                <a:off x="-2256673" y="3342504"/>
                <a:ext cx="370611" cy="320905"/>
              </a:xfrm>
              <a:custGeom>
                <a:avLst/>
                <a:gdLst/>
                <a:ahLst/>
                <a:cxnLst/>
                <a:rect l="l" t="t" r="r" b="b"/>
                <a:pathLst>
                  <a:path w="9350" h="8096" extrusionOk="0">
                    <a:moveTo>
                      <a:pt x="2338" y="1"/>
                    </a:moveTo>
                    <a:lnTo>
                      <a:pt x="0" y="4048"/>
                    </a:lnTo>
                    <a:lnTo>
                      <a:pt x="2338" y="8096"/>
                    </a:lnTo>
                    <a:lnTo>
                      <a:pt x="7013" y="8096"/>
                    </a:lnTo>
                    <a:lnTo>
                      <a:pt x="9349" y="4048"/>
                    </a:lnTo>
                    <a:lnTo>
                      <a:pt x="7013" y="1"/>
                    </a:lnTo>
                    <a:close/>
                  </a:path>
                </a:pathLst>
              </a:custGeom>
              <a:solidFill>
                <a:schemeClr val="accent3">
                  <a:alpha val="58859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34"/>
              <p:cNvSpPr/>
              <p:nvPr/>
            </p:nvSpPr>
            <p:spPr>
              <a:xfrm>
                <a:off x="-1828309" y="1581730"/>
                <a:ext cx="370611" cy="320905"/>
              </a:xfrm>
              <a:custGeom>
                <a:avLst/>
                <a:gdLst/>
                <a:ahLst/>
                <a:cxnLst/>
                <a:rect l="l" t="t" r="r" b="b"/>
                <a:pathLst>
                  <a:path w="9350" h="8096" extrusionOk="0">
                    <a:moveTo>
                      <a:pt x="2340" y="0"/>
                    </a:moveTo>
                    <a:lnTo>
                      <a:pt x="0" y="4048"/>
                    </a:lnTo>
                    <a:lnTo>
                      <a:pt x="2340" y="8096"/>
                    </a:lnTo>
                    <a:lnTo>
                      <a:pt x="7013" y="8096"/>
                    </a:lnTo>
                    <a:lnTo>
                      <a:pt x="9350" y="4048"/>
                    </a:lnTo>
                    <a:lnTo>
                      <a:pt x="7013" y="0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34"/>
              <p:cNvSpPr/>
              <p:nvPr/>
            </p:nvSpPr>
            <p:spPr>
              <a:xfrm>
                <a:off x="-876451" y="2232220"/>
                <a:ext cx="601895" cy="521312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52" extrusionOk="0">
                    <a:moveTo>
                      <a:pt x="3796" y="1"/>
                    </a:moveTo>
                    <a:lnTo>
                      <a:pt x="0" y="6576"/>
                    </a:lnTo>
                    <a:lnTo>
                      <a:pt x="3796" y="13151"/>
                    </a:lnTo>
                    <a:lnTo>
                      <a:pt x="11388" y="13151"/>
                    </a:lnTo>
                    <a:lnTo>
                      <a:pt x="15185" y="6576"/>
                    </a:lnTo>
                    <a:lnTo>
                      <a:pt x="11388" y="1"/>
                    </a:lnTo>
                    <a:close/>
                  </a:path>
                </a:pathLst>
              </a:custGeom>
              <a:solidFill>
                <a:schemeClr val="accent3">
                  <a:alpha val="215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34"/>
              <p:cNvSpPr/>
              <p:nvPr/>
            </p:nvSpPr>
            <p:spPr>
              <a:xfrm>
                <a:off x="-876451" y="3367079"/>
                <a:ext cx="601895" cy="521193"/>
              </a:xfrm>
              <a:custGeom>
                <a:avLst/>
                <a:gdLst/>
                <a:ahLst/>
                <a:cxnLst/>
                <a:rect l="l" t="t" r="r" b="b"/>
                <a:pathLst>
                  <a:path w="15185" h="13149" extrusionOk="0">
                    <a:moveTo>
                      <a:pt x="3796" y="0"/>
                    </a:moveTo>
                    <a:lnTo>
                      <a:pt x="0" y="6573"/>
                    </a:lnTo>
                    <a:lnTo>
                      <a:pt x="3796" y="13148"/>
                    </a:lnTo>
                    <a:lnTo>
                      <a:pt x="11388" y="13148"/>
                    </a:lnTo>
                    <a:lnTo>
                      <a:pt x="15185" y="6573"/>
                    </a:lnTo>
                    <a:lnTo>
                      <a:pt x="1138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1" name="Google Shape;591;p34"/>
            <p:cNvGrpSpPr/>
            <p:nvPr/>
          </p:nvGrpSpPr>
          <p:grpSpPr>
            <a:xfrm>
              <a:off x="5370950" y="1628700"/>
              <a:ext cx="3268225" cy="2975295"/>
              <a:chOff x="313175" y="1628700"/>
              <a:chExt cx="3268225" cy="2975295"/>
            </a:xfrm>
          </p:grpSpPr>
          <p:pic>
            <p:nvPicPr>
              <p:cNvPr id="592" name="Google Shape;592;p34"/>
              <p:cNvPicPr preferRelativeResize="0"/>
              <p:nvPr/>
            </p:nvPicPr>
            <p:blipFill rotWithShape="1">
              <a:blip r:embed="rId2">
                <a:alphaModFix/>
              </a:blip>
              <a:srcRect l="18116" t="10280" r="18116" b="10272"/>
              <a:stretch/>
            </p:blipFill>
            <p:spPr>
              <a:xfrm flipH="1">
                <a:off x="2281150" y="2573000"/>
                <a:ext cx="1300250" cy="16200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</p:pic>
          <p:sp>
            <p:nvSpPr>
              <p:cNvPr id="593" name="Google Shape;593;p34"/>
              <p:cNvSpPr/>
              <p:nvPr/>
            </p:nvSpPr>
            <p:spPr>
              <a:xfrm>
                <a:off x="313175" y="4192995"/>
                <a:ext cx="2704200" cy="411000"/>
              </a:xfrm>
              <a:prstGeom prst="ellipse">
                <a:avLst/>
              </a:prstGeom>
              <a:solidFill>
                <a:schemeClr val="dk1">
                  <a:alpha val="177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594" name="Google Shape;594;p34"/>
              <p:cNvPicPr preferRelativeResize="0"/>
              <p:nvPr/>
            </p:nvPicPr>
            <p:blipFill rotWithShape="1">
              <a:blip r:embed="rId3">
                <a:alphaModFix/>
              </a:blip>
              <a:srcRect l="16325" t="10721" r="16325" b="13509"/>
              <a:stretch/>
            </p:blipFill>
            <p:spPr>
              <a:xfrm>
                <a:off x="407975" y="1628700"/>
                <a:ext cx="2514599" cy="2828925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</p:pic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estrial"/>
              <a:buNone/>
              <a:defRPr sz="33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Questrial"/>
              <a:buNone/>
              <a:defRPr sz="3500" b="1">
                <a:solidFill>
                  <a:schemeClr val="dk1"/>
                </a:solidFill>
                <a:latin typeface="Questrial"/>
                <a:ea typeface="Questrial"/>
                <a:cs typeface="Questrial"/>
                <a:sym typeface="Quest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lbert Sans"/>
              <a:buChar char="⬣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79" r:id="rId4"/>
    <p:sldLayoutId id="214748368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39"/>
          <p:cNvSpPr txBox="1">
            <a:spLocks noGrp="1"/>
          </p:cNvSpPr>
          <p:nvPr>
            <p:ph type="ctrTitle"/>
          </p:nvPr>
        </p:nvSpPr>
        <p:spPr>
          <a:xfrm>
            <a:off x="275441" y="1079572"/>
            <a:ext cx="7001499" cy="23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sr-Latn-RS" sz="3600" dirty="0"/>
              <a:t>Predviđanje afiniteta vezivanja inhibitora humanog tripsina primenom višestruke regresione analize i transfer learning pristupa</a:t>
            </a:r>
            <a:endParaRPr lang="en-GB" sz="3600" dirty="0"/>
          </a:p>
        </p:txBody>
      </p:sp>
      <p:sp>
        <p:nvSpPr>
          <p:cNvPr id="611" name="Google Shape;611;p39"/>
          <p:cNvSpPr txBox="1">
            <a:spLocks noGrp="1"/>
          </p:cNvSpPr>
          <p:nvPr>
            <p:ph type="subTitle" idx="1"/>
          </p:nvPr>
        </p:nvSpPr>
        <p:spPr>
          <a:xfrm>
            <a:off x="1111461" y="3368901"/>
            <a:ext cx="4708200" cy="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r-Latn-RS" dirty="0" smtClean="0"/>
              <a:t>Janković Aleksandra SV12/2024</a:t>
            </a:r>
            <a:endParaRPr dirty="0"/>
          </a:p>
        </p:txBody>
      </p:sp>
      <p:grpSp>
        <p:nvGrpSpPr>
          <p:cNvPr id="26" name="Google Shape;1545;p75"/>
          <p:cNvGrpSpPr/>
          <p:nvPr/>
        </p:nvGrpSpPr>
        <p:grpSpPr>
          <a:xfrm>
            <a:off x="6761220" y="3016852"/>
            <a:ext cx="2309361" cy="1959578"/>
            <a:chOff x="3729441" y="3019375"/>
            <a:chExt cx="1727149" cy="1584675"/>
          </a:xfrm>
        </p:grpSpPr>
        <p:sp>
          <p:nvSpPr>
            <p:cNvPr id="27" name="Google Shape;1546;p75"/>
            <p:cNvSpPr/>
            <p:nvPr/>
          </p:nvSpPr>
          <p:spPr>
            <a:xfrm>
              <a:off x="4066650" y="4292950"/>
              <a:ext cx="1206600" cy="311100"/>
            </a:xfrm>
            <a:prstGeom prst="ellipse">
              <a:avLst/>
            </a:prstGeom>
            <a:solidFill>
              <a:schemeClr val="dk1">
                <a:alpha val="177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8" name="Google Shape;1547;p75"/>
            <p:cNvPicPr preferRelativeResize="0"/>
            <p:nvPr/>
          </p:nvPicPr>
          <p:blipFill rotWithShape="1">
            <a:blip r:embed="rId3">
              <a:alphaModFix/>
            </a:blip>
            <a:srcRect l="6385" t="13235" r="6385" b="13235"/>
            <a:stretch/>
          </p:blipFill>
          <p:spPr>
            <a:xfrm>
              <a:off x="3729441" y="3019375"/>
              <a:ext cx="1727149" cy="1455824"/>
            </a:xfrm>
            <a:prstGeom prst="rect">
              <a:avLst/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sr-Latn-RS" sz="3600" dirty="0" smtClean="0"/>
              <a:t>Opis problema</a:t>
            </a:r>
            <a:endParaRPr lang="en-GB" sz="3600" dirty="0"/>
          </a:p>
        </p:txBody>
      </p:sp>
      <p:sp>
        <p:nvSpPr>
          <p:cNvPr id="3" name="Google Shape;96;p7"/>
          <p:cNvSpPr txBox="1">
            <a:spLocks noGrp="1"/>
          </p:cNvSpPr>
          <p:nvPr>
            <p:ph type="subTitle" idx="1"/>
          </p:nvPr>
        </p:nvSpPr>
        <p:spPr>
          <a:xfrm>
            <a:off x="666603" y="1708661"/>
            <a:ext cx="4332561" cy="26697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lbert Sans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r>
              <a:rPr lang="sr-Latn-RS" sz="1600" dirty="0" smtClean="0"/>
              <a:t>Humani tripsin ima ključnu ulogu u varenju proteina</a:t>
            </a:r>
          </a:p>
          <a:p>
            <a:r>
              <a:rPr lang="sr-Latn-RS" sz="1600" dirty="0" smtClean="0"/>
              <a:t>Inhibitori tripsina</a:t>
            </a:r>
            <a:r>
              <a:rPr lang="en-GB" sz="1600" dirty="0" smtClean="0"/>
              <a:t> </a:t>
            </a:r>
            <a:r>
              <a:rPr lang="en-GB" sz="1600" dirty="0" err="1" smtClean="0"/>
              <a:t>imaju</a:t>
            </a:r>
            <a:r>
              <a:rPr lang="en-GB" sz="1600" dirty="0" smtClean="0"/>
              <a:t> </a:t>
            </a:r>
            <a:r>
              <a:rPr lang="en-GB" sz="1600" dirty="0" err="1" smtClean="0"/>
              <a:t>veliku</a:t>
            </a:r>
            <a:r>
              <a:rPr lang="en-GB" sz="1600" dirty="0" smtClean="0"/>
              <a:t> </a:t>
            </a:r>
            <a:r>
              <a:rPr lang="en-GB" sz="1600" dirty="0" err="1" smtClean="0"/>
              <a:t>primenu</a:t>
            </a:r>
            <a:r>
              <a:rPr lang="en-GB" sz="1600" dirty="0" smtClean="0"/>
              <a:t> u </a:t>
            </a:r>
            <a:r>
              <a:rPr lang="en-GB" sz="1600" dirty="0" err="1" smtClean="0"/>
              <a:t>lečenju</a:t>
            </a:r>
            <a:r>
              <a:rPr lang="en-GB" sz="1600" dirty="0" smtClean="0"/>
              <a:t> </a:t>
            </a:r>
            <a:r>
              <a:rPr lang="en-GB" sz="1600" dirty="0" err="1" smtClean="0"/>
              <a:t>oboljenja</a:t>
            </a:r>
            <a:r>
              <a:rPr lang="en-GB" sz="1600" dirty="0" smtClean="0"/>
              <a:t> </a:t>
            </a:r>
            <a:r>
              <a:rPr lang="en-GB" sz="1600" dirty="0" err="1" smtClean="0"/>
              <a:t>povezanih</a:t>
            </a:r>
            <a:r>
              <a:rPr lang="en-GB" sz="1600" dirty="0" smtClean="0"/>
              <a:t> </a:t>
            </a:r>
            <a:r>
              <a:rPr lang="en-GB" sz="1600" dirty="0" err="1" smtClean="0"/>
              <a:t>sa</a:t>
            </a:r>
            <a:r>
              <a:rPr lang="en-GB" sz="1600" dirty="0" smtClean="0"/>
              <a:t> </a:t>
            </a:r>
            <a:r>
              <a:rPr lang="en-GB" sz="1600" dirty="0" err="1" smtClean="0"/>
              <a:t>pankreasom</a:t>
            </a:r>
            <a:endParaRPr lang="sr-Latn-RS" sz="1600" dirty="0" smtClean="0"/>
          </a:p>
          <a:p>
            <a:r>
              <a:rPr lang="sr-Latn-RS" sz="1600" dirty="0" smtClean="0"/>
              <a:t>Eksperimentalno merenje afiniteta vezivanja je skupo i sporo</a:t>
            </a:r>
          </a:p>
          <a:p>
            <a:r>
              <a:rPr lang="sr-Latn-RS" sz="1600" b="1" dirty="0" smtClean="0"/>
              <a:t>Cilj</a:t>
            </a:r>
            <a:r>
              <a:rPr lang="sr-Latn-RS" sz="1600" dirty="0" smtClean="0"/>
              <a:t>: Razviti računarski model koji brzo i pouzdano predviđa koliko dobro se molekul vezuje za tripsin</a:t>
            </a:r>
          </a:p>
          <a:p>
            <a:endParaRPr dirty="0"/>
          </a:p>
        </p:txBody>
      </p:sp>
      <p:pic>
        <p:nvPicPr>
          <p:cNvPr id="1026" name="Picture 2" descr="Basic Structure of Enzymes by X-ray Crystallography - Biology Not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2542" y="1811191"/>
            <a:ext cx="3294947" cy="196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91488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sr-Latn-RS" dirty="0" smtClean="0"/>
              <a:t>Transfer learning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3209" y="1693624"/>
            <a:ext cx="5000006" cy="2951794"/>
          </a:xfrm>
        </p:spPr>
        <p:txBody>
          <a:bodyPr/>
          <a:lstStyle/>
          <a:p>
            <a:r>
              <a:rPr lang="sr-Latn-RS" sz="1600" dirty="0" smtClean="0"/>
              <a:t>Humani </a:t>
            </a:r>
            <a:r>
              <a:rPr lang="sr-Latn-RS" sz="1600" dirty="0" smtClean="0"/>
              <a:t>tripsin</a:t>
            </a:r>
            <a:r>
              <a:rPr lang="en-GB" sz="1600" dirty="0" smtClean="0"/>
              <a:t> </a:t>
            </a:r>
            <a:r>
              <a:rPr lang="en-GB" sz="1600" dirty="0" err="1" smtClean="0"/>
              <a:t>i</a:t>
            </a:r>
            <a:r>
              <a:rPr lang="en-GB" sz="1600" dirty="0" smtClean="0"/>
              <a:t> </a:t>
            </a:r>
            <a:r>
              <a:rPr lang="en-GB" sz="1600" dirty="0" err="1" smtClean="0"/>
              <a:t>kravlji</a:t>
            </a:r>
            <a:r>
              <a:rPr lang="en-GB" sz="1600" dirty="0" smtClean="0"/>
              <a:t> </a:t>
            </a:r>
            <a:r>
              <a:rPr lang="en-GB" sz="1600" dirty="0" err="1" smtClean="0"/>
              <a:t>tripsin</a:t>
            </a:r>
            <a:endParaRPr lang="en-GB" sz="1600" dirty="0" smtClean="0"/>
          </a:p>
          <a:p>
            <a:r>
              <a:rPr lang="sr-Latn-RS" sz="1600" dirty="0" smtClean="0"/>
              <a:t>Njihova </a:t>
            </a:r>
            <a:r>
              <a:rPr lang="sr-Latn-RS" sz="1600" dirty="0" smtClean="0"/>
              <a:t>međusobna sličnost: ~80%</a:t>
            </a:r>
          </a:p>
          <a:p>
            <a:r>
              <a:rPr lang="sr-Latn-RS" sz="1600" dirty="0" smtClean="0"/>
              <a:t>Ideja transfer learninga podrazumeva treniranje na kravljim podacima, pa fine-tune na humanim</a:t>
            </a:r>
          </a:p>
          <a:p>
            <a:r>
              <a:rPr lang="sr-Latn-RS" sz="1600" dirty="0" smtClean="0"/>
              <a:t>Glavno pitanje:</a:t>
            </a:r>
          </a:p>
          <a:p>
            <a:pPr lvl="1" algn="l"/>
            <a:r>
              <a:rPr lang="sr-Latn-RS" sz="1600" dirty="0" smtClean="0"/>
              <a:t>Da li transfer learning poboljšava predikcije?</a:t>
            </a:r>
          </a:p>
          <a:p>
            <a:pPr marL="139700" indent="0">
              <a:buNone/>
            </a:pPr>
            <a:r>
              <a:rPr lang="sr-Latn-RS" dirty="0"/>
              <a:t> </a:t>
            </a:r>
            <a:r>
              <a:rPr lang="sr-Latn-RS" dirty="0" smtClean="0"/>
              <a:t> 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021" y="616960"/>
            <a:ext cx="4090140" cy="215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750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Skup podataka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20000" y="1299833"/>
            <a:ext cx="6648596" cy="2298300"/>
          </a:xfrm>
        </p:spPr>
        <p:txBody>
          <a:bodyPr/>
          <a:lstStyle/>
          <a:p>
            <a:r>
              <a:rPr lang="sr-Latn-RS" dirty="0" smtClean="0"/>
              <a:t>Ki predstavlja inhibitorsku konstantu, što je manja, to je inhibitor bolji</a:t>
            </a:r>
          </a:p>
          <a:p>
            <a:r>
              <a:rPr lang="sr-Latn-RS" dirty="0" smtClean="0"/>
              <a:t>pKi je linearna skala, što je veći, to je vezivanje jače</a:t>
            </a:r>
          </a:p>
          <a:p>
            <a:r>
              <a:rPr lang="sr-Latn-RS" dirty="0" smtClean="0"/>
              <a:t>pKi = -log</a:t>
            </a:r>
            <a:r>
              <a:rPr lang="sr-Latn-RS" sz="1000" dirty="0" smtClean="0"/>
              <a:t>10</a:t>
            </a:r>
            <a:r>
              <a:rPr lang="sr-Latn-RS" dirty="0" smtClean="0"/>
              <a:t>(Ki)</a:t>
            </a:r>
          </a:p>
          <a:p>
            <a:r>
              <a:rPr lang="sr-Latn-RS" dirty="0" smtClean="0"/>
              <a:t>Ciljna promenljiva: pKi</a:t>
            </a:r>
          </a:p>
          <a:p>
            <a:pPr marL="139700" indent="0">
              <a:buNone/>
            </a:pPr>
            <a:endParaRPr lang="sr-Latn-RS" dirty="0" smtClean="0"/>
          </a:p>
          <a:p>
            <a:pPr marL="139700" indent="0">
              <a:buNone/>
            </a:pPr>
            <a:r>
              <a:rPr lang="sr-Latn-RS" dirty="0" smtClean="0"/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7339066"/>
              </p:ext>
            </p:extLst>
          </p:nvPr>
        </p:nvGraphicFramePr>
        <p:xfrm>
          <a:off x="1272595" y="2636409"/>
          <a:ext cx="6349629" cy="1968963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2116543">
                  <a:extLst>
                    <a:ext uri="{9D8B030D-6E8A-4147-A177-3AD203B41FA5}">
                      <a16:colId xmlns:a16="http://schemas.microsoft.com/office/drawing/2014/main" val="2175472566"/>
                    </a:ext>
                  </a:extLst>
                </a:gridCol>
                <a:gridCol w="2223915">
                  <a:extLst>
                    <a:ext uri="{9D8B030D-6E8A-4147-A177-3AD203B41FA5}">
                      <a16:colId xmlns:a16="http://schemas.microsoft.com/office/drawing/2014/main" val="2966210982"/>
                    </a:ext>
                  </a:extLst>
                </a:gridCol>
                <a:gridCol w="2009171">
                  <a:extLst>
                    <a:ext uri="{9D8B030D-6E8A-4147-A177-3AD203B41FA5}">
                      <a16:colId xmlns:a16="http://schemas.microsoft.com/office/drawing/2014/main" val="865498131"/>
                    </a:ext>
                  </a:extLst>
                </a:gridCol>
              </a:tblGrid>
              <a:tr h="386821"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Izvor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Vrsta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Broj molekula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296301"/>
                  </a:ext>
                </a:extLst>
              </a:tr>
              <a:tr h="386821">
                <a:tc>
                  <a:txBody>
                    <a:bodyPr/>
                    <a:lstStyle/>
                    <a:p>
                      <a:r>
                        <a:rPr lang="sr-Latn-RS" dirty="0" smtClean="0"/>
                        <a:t>ChEMBL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Humani tripsin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~1500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531706"/>
                  </a:ext>
                </a:extLst>
              </a:tr>
              <a:tr h="386821">
                <a:tc>
                  <a:txBody>
                    <a:bodyPr/>
                    <a:lstStyle/>
                    <a:p>
                      <a:r>
                        <a:rPr lang="sr-Latn-RS" dirty="0" smtClean="0"/>
                        <a:t>ChEMBL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 smtClean="0"/>
                        <a:t>Kravlji</a:t>
                      </a:r>
                      <a:r>
                        <a:rPr lang="sr-Latn-RS" dirty="0" smtClean="0"/>
                        <a:t> tripsin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~1000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41240"/>
                  </a:ext>
                </a:extLst>
              </a:tr>
              <a:tr h="386821">
                <a:tc>
                  <a:txBody>
                    <a:bodyPr/>
                    <a:lstStyle/>
                    <a:p>
                      <a:r>
                        <a:rPr lang="sr-Latn-RS" dirty="0" smtClean="0"/>
                        <a:t>AutoDock</a:t>
                      </a:r>
                      <a:r>
                        <a:rPr lang="sr-Latn-RS" baseline="0" dirty="0" smtClean="0"/>
                        <a:t> Vina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Docking podaci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~70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653665"/>
                  </a:ext>
                </a:extLst>
              </a:tr>
              <a:tr h="421679">
                <a:tc>
                  <a:txBody>
                    <a:bodyPr/>
                    <a:lstStyle/>
                    <a:p>
                      <a:r>
                        <a:rPr lang="sr-Latn-RS" dirty="0" smtClean="0"/>
                        <a:t>IS Petnica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Derivati</a:t>
                      </a:r>
                      <a:r>
                        <a:rPr lang="sr-Latn-RS" baseline="0" dirty="0" smtClean="0"/>
                        <a:t> cimetne kiseline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2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2326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559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Molekulski deskriptori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3769" y="1334891"/>
            <a:ext cx="5005839" cy="3317201"/>
          </a:xfrm>
        </p:spPr>
        <p:txBody>
          <a:bodyPr/>
          <a:lstStyle/>
          <a:p>
            <a:r>
              <a:rPr lang="sr-Latn-RS" sz="1600" dirty="0" smtClean="0"/>
              <a:t>Svaki molekul je određen SMILES (</a:t>
            </a:r>
            <a:r>
              <a:rPr lang="en-GB" sz="1600" dirty="0"/>
              <a:t>Simplified Molecular Input Line Entry </a:t>
            </a:r>
            <a:r>
              <a:rPr lang="en-GB" sz="1600" dirty="0" smtClean="0"/>
              <a:t>System</a:t>
            </a:r>
            <a:r>
              <a:rPr lang="sr-Latn-RS" sz="1600" dirty="0" smtClean="0"/>
              <a:t>) stringom</a:t>
            </a:r>
          </a:p>
          <a:p>
            <a:r>
              <a:rPr lang="sr-Latn-RS" sz="1600" dirty="0" smtClean="0"/>
              <a:t>Pomoću RDKit biblioteke, iz SMILES izračunavaju se:</a:t>
            </a:r>
            <a:endParaRPr lang="sr-Latn-RS" sz="1600" dirty="0"/>
          </a:p>
          <a:p>
            <a:pPr lvl="1" algn="l"/>
            <a:r>
              <a:rPr lang="sr-Latn-RS" sz="1600" dirty="0" smtClean="0"/>
              <a:t>2D deskriptori (217), predstavljaju fizičko-hemijska svojstva</a:t>
            </a:r>
          </a:p>
          <a:p>
            <a:pPr lvl="1" algn="l"/>
            <a:r>
              <a:rPr lang="sr-Latn-RS" sz="1600" dirty="0" smtClean="0"/>
              <a:t>Morganovi fingerprintovi (2048) bita, </a:t>
            </a:r>
            <a:r>
              <a:rPr lang="sr-Latn-RS" sz="1600" dirty="0" smtClean="0"/>
              <a:t>predst</a:t>
            </a:r>
            <a:r>
              <a:rPr lang="en-GB" sz="1600" dirty="0" err="1" smtClean="0"/>
              <a:t>av</a:t>
            </a:r>
            <a:r>
              <a:rPr lang="sr-Latn-RS" sz="1600" dirty="0" smtClean="0"/>
              <a:t>lja </a:t>
            </a:r>
            <a:r>
              <a:rPr lang="sr-Latn-RS" sz="1600" dirty="0" smtClean="0"/>
              <a:t>binarni vektor koji kodira prisustvo specifičnih podstruktura</a:t>
            </a:r>
          </a:p>
          <a:p>
            <a:r>
              <a:rPr lang="sr-Latn-RS" sz="1600" dirty="0" smtClean="0"/>
              <a:t>Ukupno 2265 numeričkih vrednosti po molekulu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325" y="439645"/>
            <a:ext cx="3351045" cy="2076624"/>
          </a:xfrm>
          <a:prstGeom prst="rect">
            <a:avLst/>
          </a:prstGeom>
        </p:spPr>
      </p:pic>
      <p:pic>
        <p:nvPicPr>
          <p:cNvPr id="2052" name="Picture 4" descr="RDKit - 인코덤, 생물정보 전문위키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2683" y="2749874"/>
            <a:ext cx="3357688" cy="1757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9354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Problem visoke dimenzionalnosti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7235" y="1112200"/>
            <a:ext cx="7936765" cy="2298300"/>
          </a:xfrm>
        </p:spPr>
        <p:txBody>
          <a:bodyPr/>
          <a:lstStyle/>
          <a:p>
            <a:r>
              <a:rPr lang="sr-Latn-RS" smtClean="0"/>
              <a:t>2265 </a:t>
            </a:r>
            <a:r>
              <a:rPr lang="sr-Latn-RS" dirty="0" smtClean="0">
                <a:latin typeface="Albert Sans" panose="020B0604020202020204" charset="0"/>
              </a:rPr>
              <a:t>karakteristika</a:t>
            </a:r>
            <a:r>
              <a:rPr lang="sr-Latn-RS" dirty="0" smtClean="0"/>
              <a:t> donosi rizik od preprilagođavanja modela i predstavlja situaciju gde je multikolinearnost zagarantovana</a:t>
            </a:r>
          </a:p>
          <a:p>
            <a:pPr marL="139700" indent="0">
              <a:buNone/>
            </a:pPr>
            <a:r>
              <a:rPr lang="sr-Latn-RS" dirty="0" smtClean="0"/>
              <a:t> </a:t>
            </a:r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3440098915"/>
              </p:ext>
            </p:extLst>
          </p:nvPr>
        </p:nvGraphicFramePr>
        <p:xfrm>
          <a:off x="553980" y="1742029"/>
          <a:ext cx="8222925" cy="32304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9232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Rezultati analize dimenzionalnosti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9" r="51205" b="49521"/>
          <a:stretch/>
        </p:blipFill>
        <p:spPr>
          <a:xfrm>
            <a:off x="639049" y="1312159"/>
            <a:ext cx="3597530" cy="33240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861" b="49911"/>
          <a:stretch/>
        </p:blipFill>
        <p:spPr>
          <a:xfrm>
            <a:off x="4236579" y="1312159"/>
            <a:ext cx="4254299" cy="332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271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Modeli i scenariji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3980" y="1321543"/>
            <a:ext cx="4460820" cy="3237108"/>
          </a:xfrm>
        </p:spPr>
        <p:txBody>
          <a:bodyPr/>
          <a:lstStyle/>
          <a:p>
            <a:r>
              <a:rPr lang="sr-Latn-RS" sz="1600" dirty="0" smtClean="0"/>
              <a:t>Modeli:</a:t>
            </a:r>
          </a:p>
          <a:p>
            <a:pPr lvl="1" algn="l"/>
            <a:r>
              <a:rPr lang="sr-Latn-RS" sz="1600" dirty="0"/>
              <a:t>Višestruka linearna regresija</a:t>
            </a:r>
          </a:p>
          <a:p>
            <a:pPr lvl="1" algn="l"/>
            <a:r>
              <a:rPr lang="sr-Latn-RS" sz="1600" dirty="0"/>
              <a:t>Ridge regresija</a:t>
            </a:r>
          </a:p>
          <a:p>
            <a:pPr lvl="1" algn="l"/>
            <a:r>
              <a:rPr lang="sr-Latn-RS" sz="1600" dirty="0"/>
              <a:t>Lasso regresija</a:t>
            </a:r>
          </a:p>
          <a:p>
            <a:pPr lvl="1" algn="l"/>
            <a:r>
              <a:rPr lang="sr-Latn-RS" sz="1600" dirty="0"/>
              <a:t>Elastic net regresija</a:t>
            </a:r>
          </a:p>
          <a:p>
            <a:pPr lvl="1" algn="l"/>
            <a:r>
              <a:rPr lang="sr-Latn-RS" sz="1600" dirty="0"/>
              <a:t>Random Forest</a:t>
            </a:r>
          </a:p>
          <a:p>
            <a:pPr lvl="1" algn="l"/>
            <a:r>
              <a:rPr lang="sr-Latn-RS" sz="1600" dirty="0"/>
              <a:t>Gradient </a:t>
            </a:r>
            <a:r>
              <a:rPr lang="sr-Latn-RS" sz="1600" dirty="0" smtClean="0"/>
              <a:t>Boosting</a:t>
            </a:r>
            <a:endParaRPr lang="sr-Latn-RS" sz="1600" dirty="0"/>
          </a:p>
          <a:p>
            <a:r>
              <a:rPr lang="sr-Latn-RS" sz="1600" dirty="0" smtClean="0"/>
              <a:t>Scenariji:</a:t>
            </a:r>
          </a:p>
          <a:p>
            <a:pPr lvl="1" algn="l"/>
            <a:r>
              <a:rPr lang="sr-Latn-RS" sz="1600" dirty="0"/>
              <a:t>Samo podaci za humani tripsin</a:t>
            </a:r>
          </a:p>
          <a:p>
            <a:pPr lvl="1" algn="l"/>
            <a:r>
              <a:rPr lang="sr-Latn-RS" sz="1600" dirty="0"/>
              <a:t>Transfer learning </a:t>
            </a:r>
          </a:p>
          <a:p>
            <a:pPr lvl="1" algn="l"/>
            <a:r>
              <a:rPr lang="sr-Latn-RS" sz="1600" dirty="0"/>
              <a:t>Kombinovani </a:t>
            </a:r>
            <a:r>
              <a:rPr lang="sr-Latn-RS" sz="1600" dirty="0" smtClean="0"/>
              <a:t>dataset</a:t>
            </a:r>
          </a:p>
          <a:p>
            <a:r>
              <a:rPr lang="sr-Latn-RS" sz="1600" dirty="0" smtClean="0"/>
              <a:t>Strukutra podataka: 70/15/15</a:t>
            </a:r>
            <a:endParaRPr lang="sr-Latn-RS" dirty="0" smtClean="0"/>
          </a:p>
          <a:p>
            <a:pPr marL="596900" lvl="1" indent="0" algn="l">
              <a:buNone/>
            </a:pPr>
            <a:endParaRPr lang="sr-Latn-RS" dirty="0"/>
          </a:p>
        </p:txBody>
      </p:sp>
      <p:pic>
        <p:nvPicPr>
          <p:cNvPr id="1026" name="Picture 2" descr="What is Random Forest? | dida ML Basic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744" y="539500"/>
            <a:ext cx="3023799" cy="2015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What is Gradient Boosting? | IB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6014" y="2692005"/>
            <a:ext cx="3603258" cy="2026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3895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Rezultati – poređenje modela</a:t>
            </a:r>
            <a:endParaRPr lang="en-GB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626057"/>
              </p:ext>
            </p:extLst>
          </p:nvPr>
        </p:nvGraphicFramePr>
        <p:xfrm>
          <a:off x="587352" y="1440801"/>
          <a:ext cx="7942597" cy="28041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876148">
                  <a:extLst>
                    <a:ext uri="{9D8B030D-6E8A-4147-A177-3AD203B41FA5}">
                      <a16:colId xmlns:a16="http://schemas.microsoft.com/office/drawing/2014/main" val="2315449795"/>
                    </a:ext>
                  </a:extLst>
                </a:gridCol>
                <a:gridCol w="713539">
                  <a:extLst>
                    <a:ext uri="{9D8B030D-6E8A-4147-A177-3AD203B41FA5}">
                      <a16:colId xmlns:a16="http://schemas.microsoft.com/office/drawing/2014/main" val="1006014728"/>
                    </a:ext>
                  </a:extLst>
                </a:gridCol>
                <a:gridCol w="719729">
                  <a:extLst>
                    <a:ext uri="{9D8B030D-6E8A-4147-A177-3AD203B41FA5}">
                      <a16:colId xmlns:a16="http://schemas.microsoft.com/office/drawing/2014/main" val="1197445393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1813568136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2600874272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2943003279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508918920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1753187792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2653152652"/>
                    </a:ext>
                  </a:extLst>
                </a:gridCol>
                <a:gridCol w="661883">
                  <a:extLst>
                    <a:ext uri="{9D8B030D-6E8A-4147-A177-3AD203B41FA5}">
                      <a16:colId xmlns:a16="http://schemas.microsoft.com/office/drawing/2014/main" val="944512078"/>
                    </a:ext>
                  </a:extLst>
                </a:gridCol>
              </a:tblGrid>
              <a:tr h="185420">
                <a:tc rowSpan="2">
                  <a:txBody>
                    <a:bodyPr/>
                    <a:lstStyle/>
                    <a:p>
                      <a:pPr algn="ctr"/>
                      <a:r>
                        <a:rPr lang="sr-Latn-RS" sz="1600" dirty="0" smtClean="0"/>
                        <a:t>Model</a:t>
                      </a:r>
                      <a:endParaRPr lang="en-GB" sz="16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sr-Latn-RS" dirty="0" smtClean="0"/>
                        <a:t>Scenario</a:t>
                      </a:r>
                      <a:r>
                        <a:rPr lang="sr-Latn-RS" baseline="0" dirty="0" smtClean="0"/>
                        <a:t> 1</a:t>
                      </a:r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sr-Latn-RS" dirty="0" smtClean="0"/>
                        <a:t>Scenario 2</a:t>
                      </a:r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sr-Latn-RS" dirty="0" smtClean="0"/>
                        <a:t>Scenario 3</a:t>
                      </a:r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192021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RMSE</a:t>
                      </a:r>
                      <a:endParaRPr lang="en-GB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</a:t>
                      </a:r>
                      <a:r>
                        <a:rPr lang="sr-Latn-RS" sz="1200" b="1" baseline="30000" dirty="0" smtClean="0"/>
                        <a:t>2</a:t>
                      </a:r>
                      <a:endParaRPr lang="en-GB" sz="1200" b="1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</a:t>
                      </a:r>
                      <a:r>
                        <a:rPr lang="sr-Latn-RS" sz="1200" b="1" baseline="30000" dirty="0" smtClean="0"/>
                        <a:t>2</a:t>
                      </a:r>
                      <a:r>
                        <a:rPr lang="sr-Latn-RS" sz="1200" b="1" dirty="0" smtClean="0"/>
                        <a:t> adj</a:t>
                      </a:r>
                      <a:endParaRPr lang="en-GB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RMSE</a:t>
                      </a:r>
                      <a:endParaRPr lang="en-GB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</a:t>
                      </a:r>
                      <a:r>
                        <a:rPr lang="sr-Latn-RS" sz="1200" b="1" baseline="30000" dirty="0" smtClean="0"/>
                        <a:t>2</a:t>
                      </a:r>
                      <a:endParaRPr lang="en-GB" sz="1200" b="1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</a:t>
                      </a:r>
                      <a:r>
                        <a:rPr lang="sr-Latn-RS" sz="1200" b="1" baseline="30000" dirty="0" smtClean="0"/>
                        <a:t>2</a:t>
                      </a:r>
                      <a:r>
                        <a:rPr lang="sr-Latn-RS" sz="1200" b="1" dirty="0" smtClean="0"/>
                        <a:t> adj</a:t>
                      </a:r>
                      <a:endParaRPr lang="en-GB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RMSE</a:t>
                      </a:r>
                      <a:endParaRPr lang="en-GB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</a:t>
                      </a:r>
                      <a:r>
                        <a:rPr lang="sr-Latn-RS" sz="1200" b="1" baseline="30000" dirty="0" smtClean="0"/>
                        <a:t>2</a:t>
                      </a:r>
                      <a:endParaRPr lang="en-GB" sz="1200" b="1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00" b="1" dirty="0" smtClean="0"/>
                        <a:t>R</a:t>
                      </a:r>
                      <a:r>
                        <a:rPr lang="sr-Latn-RS" sz="1200" b="1" baseline="30000" dirty="0" smtClean="0"/>
                        <a:t>2</a:t>
                      </a:r>
                      <a:r>
                        <a:rPr lang="sr-Latn-RS" sz="1200" b="1" dirty="0" smtClean="0"/>
                        <a:t> adj</a:t>
                      </a:r>
                      <a:endParaRPr lang="en-GB" sz="12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Random Forest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0.579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0.904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0.624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0.888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0.770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0.607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0.887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0.769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349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Gradient Boosting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0.607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0.894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0.705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0.857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0.706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0.663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0.873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0.740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810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Lasso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0.768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0.830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0.651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0.788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0.633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0.845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0.795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0.579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4214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Ridge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0.779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0.641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0.781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0.639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0.831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0.801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0.592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393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Elastic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0.770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0.649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0.641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0.835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0.799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0.588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517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b="1" dirty="0" smtClean="0"/>
                        <a:t>Linearna regresija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0.641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0.781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0.824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0.639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0.831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0.801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0.592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584757"/>
                  </a:ext>
                </a:extLst>
              </a:tr>
            </a:tbl>
          </a:graphicData>
        </a:graphic>
      </p:graphicFrame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587352" y="4343383"/>
            <a:ext cx="6500917" cy="602386"/>
          </a:xfrm>
        </p:spPr>
        <p:txBody>
          <a:bodyPr/>
          <a:lstStyle/>
          <a:p>
            <a:r>
              <a:rPr lang="sr-Latn-RS" sz="1600" dirty="0" smtClean="0"/>
              <a:t>Random Forest je najbolji model u sva tri scenarija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62390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149689"/>
            <a:ext cx="7704000" cy="572700"/>
          </a:xfrm>
        </p:spPr>
        <p:txBody>
          <a:bodyPr/>
          <a:lstStyle/>
          <a:p>
            <a:r>
              <a:rPr lang="sr-Latn-RS" dirty="0"/>
              <a:t>Rezultati – poređenje modela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236" y="772013"/>
            <a:ext cx="5012227" cy="212092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236" y="2892941"/>
            <a:ext cx="5012228" cy="212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031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Rezultati – transfer efikasnost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419" y="1201402"/>
            <a:ext cx="8063581" cy="3690974"/>
          </a:xfrm>
        </p:spPr>
        <p:txBody>
          <a:bodyPr/>
          <a:lstStyle/>
          <a:p>
            <a:r>
              <a:rPr lang="sr-Latn-RS" dirty="0" smtClean="0"/>
              <a:t>Transfer efikasnost=RMSE(scenario 2)/RMSE(scenario 1)</a:t>
            </a:r>
          </a:p>
          <a:p>
            <a:r>
              <a:rPr lang="sr-Latn-RS" dirty="0" smtClean="0"/>
              <a:t>Vrednost &lt;1 bi značila da je transfer learning poboljšao model</a:t>
            </a:r>
          </a:p>
          <a:p>
            <a:r>
              <a:rPr lang="sr-Latn-RS" dirty="0" smtClean="0"/>
              <a:t>Sve vrednosti su ~1, za neke &gt;1</a:t>
            </a:r>
          </a:p>
          <a:p>
            <a:r>
              <a:rPr lang="sr-Latn-RS" dirty="0" smtClean="0"/>
              <a:t>Zaključak: Transfer learning nije doneo očekivana poboljšanja (razlozi mogu biti dovoljno velik uzorak humanih podataka ili sličnost, ali ne i identičnost kravljih podataka, mogućnost pojave šuma)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2826" y="2616894"/>
            <a:ext cx="4632063" cy="2275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401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SHAP analiza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6604" y="1112200"/>
            <a:ext cx="8137000" cy="3604203"/>
          </a:xfrm>
        </p:spPr>
        <p:txBody>
          <a:bodyPr/>
          <a:lstStyle/>
          <a:p>
            <a:r>
              <a:rPr lang="sr-Latn-RS" sz="1600" dirty="0" smtClean="0"/>
              <a:t>SHAP je tehnika koja objašnjava pojedinačne predikcije</a:t>
            </a:r>
          </a:p>
          <a:p>
            <a:r>
              <a:rPr lang="sr-Latn-RS" sz="1600" dirty="0" smtClean="0"/>
              <a:t>SHAP analiza Random Forest modela identifikovala je strukturne fingerprintove kao najuticajnije prediktore vezivanja</a:t>
            </a:r>
          </a:p>
          <a:p>
            <a:r>
              <a:rPr lang="sr-Latn-RS" sz="1600" dirty="0" smtClean="0"/>
              <a:t>MFP_736 najuticajniji</a:t>
            </a:r>
          </a:p>
          <a:p>
            <a:r>
              <a:rPr lang="sr-Latn-RS" sz="1600" dirty="0" smtClean="0"/>
              <a:t>Ukazuje</a:t>
            </a:r>
            <a:r>
              <a:rPr lang="en-GB" sz="1600" dirty="0" smtClean="0"/>
              <a:t> </a:t>
            </a:r>
            <a:r>
              <a:rPr lang="en-GB" sz="1600" dirty="0"/>
              <a:t>da prisustvo/odsustvo određenih 2D/3D strukturnih motiva dominantno određuje afinitet vezivanja za </a:t>
            </a:r>
            <a:r>
              <a:rPr lang="en-GB" sz="1600" dirty="0" smtClean="0"/>
              <a:t>tripsin</a:t>
            </a:r>
            <a:endParaRPr lang="sr-Latn-RS" sz="1600" dirty="0" smtClean="0"/>
          </a:p>
          <a:p>
            <a:r>
              <a:rPr lang="sr-Latn-RS" sz="1600" dirty="0"/>
              <a:t>Elektrotopološki deskriptori (EState_VSA2, VSA5) </a:t>
            </a:r>
            <a:r>
              <a:rPr lang="sr-Latn-RS" sz="1600" dirty="0" smtClean="0"/>
              <a:t>govore </a:t>
            </a:r>
            <a:r>
              <a:rPr lang="sr-Latn-RS" sz="1600" dirty="0"/>
              <a:t>da površinska elektronska distribucija igra </a:t>
            </a:r>
            <a:r>
              <a:rPr lang="sr-Latn-RS" sz="1600" dirty="0" smtClean="0"/>
              <a:t>važnu </a:t>
            </a:r>
            <a:r>
              <a:rPr lang="sr-Latn-RS" sz="1600" dirty="0"/>
              <a:t>ulogu u prepoznavanju aktivnog mesta </a:t>
            </a:r>
            <a:r>
              <a:rPr lang="sr-Latn-RS" sz="1600" dirty="0" smtClean="0"/>
              <a:t>enzima</a:t>
            </a:r>
          </a:p>
          <a:p>
            <a:r>
              <a:rPr lang="sr-Latn-RS" sz="1600" dirty="0" smtClean="0"/>
              <a:t>Funkcionalne grupe imaju </a:t>
            </a:r>
            <a:r>
              <a:rPr lang="sr-Latn-RS" sz="1600" dirty="0"/>
              <a:t>nešto manji, ali i dalje značajan </a:t>
            </a:r>
            <a:r>
              <a:rPr lang="sr-Latn-RS" sz="1600" dirty="0" smtClean="0"/>
              <a:t>doprinos</a:t>
            </a:r>
          </a:p>
          <a:p>
            <a:r>
              <a:rPr lang="sr-Latn-RS" sz="1600" dirty="0" smtClean="0"/>
              <a:t>Analiza je potvrdila da predikcija afiniteta vezivanja zahteva integraciju višedimenzionalnih molekulskih karakteristika, tj da nije dovoljno prisustvo funkcionalne grupe, već je ključna njen položaj u strukturi unutar molekula</a:t>
            </a:r>
          </a:p>
          <a:p>
            <a:endParaRPr lang="sr-Latn-RS" dirty="0" smtClean="0"/>
          </a:p>
          <a:p>
            <a:endParaRPr lang="sr-Latn-RS" dirty="0" smtClean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8779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SHAP analiza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801" y="1194438"/>
            <a:ext cx="4485147" cy="3724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331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255" y="319243"/>
            <a:ext cx="7704000" cy="572700"/>
          </a:xfrm>
        </p:spPr>
        <p:txBody>
          <a:bodyPr/>
          <a:lstStyle/>
          <a:p>
            <a:r>
              <a:rPr lang="sr-Latn-RS" dirty="0" smtClean="0"/>
              <a:t>SHAP analiza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676" y="1379577"/>
            <a:ext cx="2790712" cy="3058585"/>
          </a:xfrm>
        </p:spPr>
        <p:txBody>
          <a:bodyPr/>
          <a:lstStyle/>
          <a:p>
            <a:r>
              <a:rPr lang="sr-Latn-RS" dirty="0" smtClean="0"/>
              <a:t>Utvrđeno je postojanje pretežno nelinearnih odnosa između deskriptora i SHAP vrednosti, što objašnjava zašto je Random Forest bolji model za ovaj skup podataka u odnosu na linearne modele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597" y="891943"/>
            <a:ext cx="5724987" cy="409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92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999" y="406011"/>
            <a:ext cx="7704000" cy="572700"/>
          </a:xfrm>
        </p:spPr>
        <p:txBody>
          <a:bodyPr/>
          <a:lstStyle/>
          <a:p>
            <a:r>
              <a:rPr lang="sr-Latn-RS" dirty="0" smtClean="0"/>
              <a:t>Model vs molekulski doking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7398" y="978711"/>
            <a:ext cx="7796601" cy="3653358"/>
          </a:xfrm>
        </p:spPr>
        <p:txBody>
          <a:bodyPr/>
          <a:lstStyle/>
          <a:p>
            <a:r>
              <a:rPr lang="sr-Latn-RS" dirty="0" smtClean="0"/>
              <a:t>Za 70 molekula iz test skupa, urađen je doking programom AutoDock Vina</a:t>
            </a:r>
          </a:p>
          <a:p>
            <a:r>
              <a:rPr lang="sr-Latn-RS" dirty="0" smtClean="0"/>
              <a:t>Uspešnost dokinga iznosila je 85.0% (51/60 molekula)</a:t>
            </a:r>
          </a:p>
          <a:p>
            <a:endParaRPr lang="sr-Latn-RS" dirty="0" smtClean="0"/>
          </a:p>
          <a:p>
            <a:endParaRPr lang="sr-Latn-RS" dirty="0"/>
          </a:p>
          <a:p>
            <a:endParaRPr lang="sr-Latn-RS" dirty="0" smtClean="0"/>
          </a:p>
          <a:p>
            <a:endParaRPr lang="sr-Latn-RS" dirty="0"/>
          </a:p>
          <a:p>
            <a:endParaRPr lang="sr-Latn-RS" dirty="0" smtClean="0"/>
          </a:p>
          <a:p>
            <a:endParaRPr lang="sr-Latn-RS" dirty="0"/>
          </a:p>
          <a:p>
            <a:endParaRPr lang="sr-Latn-RS" dirty="0" smtClean="0"/>
          </a:p>
          <a:p>
            <a:pPr marL="139700" indent="0">
              <a:buNone/>
            </a:pPr>
            <a:endParaRPr lang="sr-Latn-RS" sz="1600" dirty="0" smtClean="0"/>
          </a:p>
          <a:p>
            <a:r>
              <a:rPr lang="sr-Latn-RS" dirty="0" smtClean="0"/>
              <a:t>Zaključak: Random Forest značajno nadmašuje AutoDock Vina u predikciji afiniteta vezivanja, kao i u preciznosti i samoj konzistenciji predviđanja rezultata</a:t>
            </a:r>
          </a:p>
          <a:p>
            <a:r>
              <a:rPr lang="sr-Latn-RS" dirty="0" smtClean="0"/>
              <a:t>Potvrda da mašinsko učenje može biti bolje od klasičnih fizičkih simulacija u nekim slučajevima</a:t>
            </a:r>
          </a:p>
          <a:p>
            <a:r>
              <a:rPr lang="sr-Latn-RS" dirty="0" smtClean="0"/>
              <a:t>Pearsonov koeficijent korelacije meri linearnu korelaciju dva skupa podataka (model i doking u odnosu na eksperimentalne vrednosti)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768282"/>
              </p:ext>
            </p:extLst>
          </p:nvPr>
        </p:nvGraphicFramePr>
        <p:xfrm>
          <a:off x="1323767" y="1601868"/>
          <a:ext cx="6096000" cy="1845855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6766336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9705924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87268110"/>
                    </a:ext>
                  </a:extLst>
                </a:gridCol>
              </a:tblGrid>
              <a:tr h="362495">
                <a:tc>
                  <a:txBody>
                    <a:bodyPr/>
                    <a:lstStyle/>
                    <a:p>
                      <a:r>
                        <a:rPr lang="sr-Latn-RS" dirty="0" smtClean="0"/>
                        <a:t>Metrika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Model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AutoDock Vina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960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dirty="0" smtClean="0"/>
                        <a:t>Broj uzoraka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51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51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4647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dirty="0" smtClean="0"/>
                        <a:t>RMSE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0.691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1.738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8186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dirty="0" smtClean="0"/>
                        <a:t>MAE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0.502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1.321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806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r-Latn-RS" dirty="0" smtClean="0"/>
                        <a:t>Pearson</a:t>
                      </a:r>
                      <a:r>
                        <a:rPr lang="sr-Latn-RS" baseline="0" dirty="0" smtClean="0"/>
                        <a:t> 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0.927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dirty="0" smtClean="0"/>
                        <a:t>0.322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928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0797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Derivati cimetne kiseline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20000" y="1426647"/>
            <a:ext cx="4294800" cy="2298300"/>
          </a:xfrm>
        </p:spPr>
        <p:txBody>
          <a:bodyPr/>
          <a:lstStyle/>
          <a:p>
            <a:r>
              <a:rPr lang="sr-Latn-RS" dirty="0" smtClean="0"/>
              <a:t>Derivat 1 </a:t>
            </a:r>
          </a:p>
          <a:p>
            <a:pPr lvl="1" algn="l"/>
            <a:r>
              <a:rPr lang="sr-Latn-RS" dirty="0"/>
              <a:t>AutoDock Vina </a:t>
            </a:r>
            <a:r>
              <a:rPr lang="sr-Latn-RS" dirty="0" smtClean="0"/>
              <a:t>pKi=4.73</a:t>
            </a:r>
          </a:p>
          <a:p>
            <a:pPr lvl="1" algn="l"/>
            <a:r>
              <a:rPr lang="sr-Latn-RS" dirty="0" smtClean="0"/>
              <a:t>Model pKi=5.02</a:t>
            </a:r>
          </a:p>
          <a:p>
            <a:pPr marL="139700" indent="0">
              <a:buNone/>
            </a:pPr>
            <a:endParaRPr lang="sr-Latn-RS" dirty="0" smtClean="0"/>
          </a:p>
          <a:p>
            <a:r>
              <a:rPr lang="sr-Latn-RS" dirty="0" smtClean="0"/>
              <a:t>Derivat 2</a:t>
            </a:r>
          </a:p>
          <a:p>
            <a:pPr lvl="1" algn="l"/>
            <a:r>
              <a:rPr lang="sr-Latn-RS" dirty="0"/>
              <a:t>AutoDock Vina pKi=5.68</a:t>
            </a:r>
          </a:p>
          <a:p>
            <a:pPr lvl="1" algn="l"/>
            <a:r>
              <a:rPr lang="sr-Latn-RS" dirty="0"/>
              <a:t>Model </a:t>
            </a:r>
            <a:r>
              <a:rPr lang="sr-Latn-RS" dirty="0" smtClean="0"/>
              <a:t>pKi=5.33</a:t>
            </a:r>
          </a:p>
          <a:p>
            <a:pPr lvl="1" algn="l"/>
            <a:endParaRPr lang="sr-Latn-RS" dirty="0" smtClean="0"/>
          </a:p>
          <a:p>
            <a:r>
              <a:rPr lang="sr-Latn-RS" dirty="0" smtClean="0"/>
              <a:t>Eksperimentalne vrednosti:</a:t>
            </a:r>
          </a:p>
          <a:p>
            <a:pPr lvl="1" algn="l"/>
            <a:r>
              <a:rPr lang="sr-Latn-RS" dirty="0" smtClean="0"/>
              <a:t>Derivat 1 pKi=~</a:t>
            </a:r>
            <a:r>
              <a:rPr lang="en-GB" dirty="0" smtClean="0"/>
              <a:t>4</a:t>
            </a:r>
            <a:r>
              <a:rPr lang="sr-Latn-RS" dirty="0" smtClean="0"/>
              <a:t>.</a:t>
            </a:r>
            <a:r>
              <a:rPr lang="en-GB" dirty="0" smtClean="0"/>
              <a:t>9</a:t>
            </a:r>
            <a:r>
              <a:rPr lang="sr-Latn-RS" dirty="0" smtClean="0"/>
              <a:t>0</a:t>
            </a:r>
          </a:p>
          <a:p>
            <a:pPr lvl="1" algn="l"/>
            <a:r>
              <a:rPr lang="sr-Latn-RS" dirty="0" smtClean="0"/>
              <a:t>Derivat 2 pKi=~</a:t>
            </a:r>
            <a:r>
              <a:rPr lang="en-GB" dirty="0" smtClean="0"/>
              <a:t>5</a:t>
            </a:r>
            <a:r>
              <a:rPr lang="sr-Latn-RS" dirty="0" smtClean="0"/>
              <a:t>.</a:t>
            </a:r>
            <a:r>
              <a:rPr lang="en-GB" dirty="0" smtClean="0"/>
              <a:t>4</a:t>
            </a:r>
            <a:r>
              <a:rPr lang="sr-Latn-RS" dirty="0" smtClean="0"/>
              <a:t>0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204" y="1328119"/>
            <a:ext cx="3310649" cy="10281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204" y="2572145"/>
            <a:ext cx="3310649" cy="1008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18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60944"/>
            <a:ext cx="7704000" cy="572700"/>
          </a:xfrm>
        </p:spPr>
        <p:txBody>
          <a:bodyPr/>
          <a:lstStyle/>
          <a:p>
            <a:r>
              <a:rPr lang="sr-Latn-RS" dirty="0" smtClean="0"/>
              <a:t>GUI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3472"/>
          <a:stretch/>
        </p:blipFill>
        <p:spPr>
          <a:xfrm>
            <a:off x="720000" y="1295454"/>
            <a:ext cx="7054896" cy="3469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56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819" y="392662"/>
            <a:ext cx="7704000" cy="572700"/>
          </a:xfrm>
        </p:spPr>
        <p:txBody>
          <a:bodyPr/>
          <a:lstStyle/>
          <a:p>
            <a:r>
              <a:rPr lang="sr-Latn-RS" dirty="0" smtClean="0"/>
              <a:t>GUI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6230"/>
          <a:stretch/>
        </p:blipFill>
        <p:spPr>
          <a:xfrm>
            <a:off x="608819" y="1159573"/>
            <a:ext cx="7347129" cy="372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337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72639"/>
            <a:ext cx="7704000" cy="572700"/>
          </a:xfrm>
        </p:spPr>
        <p:txBody>
          <a:bodyPr/>
          <a:lstStyle/>
          <a:p>
            <a:r>
              <a:rPr lang="sr-Latn-RS" dirty="0" smtClean="0"/>
              <a:t>GUI – Procena kompatibilnosti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01" y="1065479"/>
            <a:ext cx="7574253" cy="377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326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699977" y="1847097"/>
            <a:ext cx="7704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sr-Latn-RS" sz="5400" b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Questrial"/>
                <a:ea typeface="Questrial"/>
                <a:cs typeface="Questrial"/>
                <a:sym typeface="Questrial"/>
              </a:rPr>
              <a:t>HVALA NA PAŽNJI!</a:t>
            </a:r>
            <a:endParaRPr lang="en-GB" sz="5400" b="1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Questrial"/>
              <a:ea typeface="Questrial"/>
              <a:cs typeface="Questrial"/>
              <a:sym typeface="Questrial"/>
            </a:endParaRPr>
          </a:p>
        </p:txBody>
      </p:sp>
      <p:grpSp>
        <p:nvGrpSpPr>
          <p:cNvPr id="5" name="Google Shape;722;p45"/>
          <p:cNvGrpSpPr/>
          <p:nvPr/>
        </p:nvGrpSpPr>
        <p:grpSpPr>
          <a:xfrm>
            <a:off x="7361921" y="3116969"/>
            <a:ext cx="1612900" cy="1591390"/>
            <a:chOff x="5320431" y="1053232"/>
            <a:chExt cx="3020316" cy="3550769"/>
          </a:xfrm>
        </p:grpSpPr>
        <p:grpSp>
          <p:nvGrpSpPr>
            <p:cNvPr id="6" name="Google Shape;723;p45"/>
            <p:cNvGrpSpPr/>
            <p:nvPr/>
          </p:nvGrpSpPr>
          <p:grpSpPr>
            <a:xfrm>
              <a:off x="5534030" y="2157500"/>
              <a:ext cx="2806717" cy="2446501"/>
              <a:chOff x="5534030" y="2157500"/>
              <a:chExt cx="2806717" cy="2446501"/>
            </a:xfrm>
          </p:grpSpPr>
          <p:sp>
            <p:nvSpPr>
              <p:cNvPr id="8" name="Google Shape;724;p45"/>
              <p:cNvSpPr/>
              <p:nvPr/>
            </p:nvSpPr>
            <p:spPr>
              <a:xfrm>
                <a:off x="5534030" y="3982487"/>
                <a:ext cx="2333627" cy="621514"/>
              </a:xfrm>
              <a:prstGeom prst="ellipse">
                <a:avLst/>
              </a:prstGeom>
              <a:solidFill>
                <a:schemeClr val="dk1">
                  <a:alpha val="177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9" name="Google Shape;725;p45"/>
              <p:cNvPicPr preferRelativeResize="0"/>
              <p:nvPr/>
            </p:nvPicPr>
            <p:blipFill rotWithShape="1">
              <a:blip r:embed="rId2">
                <a:alphaModFix/>
              </a:blip>
              <a:srcRect l="24700" t="9362" r="24695" b="9370"/>
              <a:stretch/>
            </p:blipFill>
            <p:spPr>
              <a:xfrm>
                <a:off x="5985274" y="2157500"/>
                <a:ext cx="1431132" cy="229829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</p:pic>
          <p:pic>
            <p:nvPicPr>
              <p:cNvPr id="10" name="Google Shape;726;p45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2430956">
                <a:off x="7260757" y="2401296"/>
                <a:ext cx="896305" cy="896308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7150" dist="19050" dir="5400000" algn="bl" rotWithShape="0">
                  <a:schemeClr val="dk1">
                    <a:alpha val="50000"/>
                  </a:schemeClr>
                </a:outerShdw>
              </a:effectLst>
            </p:spPr>
          </p:pic>
        </p:grpSp>
        <p:pic>
          <p:nvPicPr>
            <p:cNvPr id="7" name="Google Shape;727;p4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-1709737">
              <a:off x="5534025" y="1266826"/>
              <a:ext cx="1200149" cy="1200149"/>
            </a:xfrm>
            <a:prstGeom prst="rect">
              <a:avLst/>
            </a:prstGeom>
            <a:noFill/>
            <a:ln>
              <a:noFill/>
            </a:ln>
            <a:effectLst>
              <a:outerShdw blurRad="57150" dist="19050" dir="5400000" algn="bl" rotWithShape="0">
                <a:schemeClr val="dk1">
                  <a:alpha val="5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30392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iochemistry and Biomolecules - Science - 9th grade by Slidesgo">
  <a:themeElements>
    <a:clrScheme name="Simple Light">
      <a:dk1>
        <a:srgbClr val="383030"/>
      </a:dk1>
      <a:lt1>
        <a:srgbClr val="E7D9E6"/>
      </a:lt1>
      <a:dk2>
        <a:srgbClr val="FEFEFE"/>
      </a:dk2>
      <a:lt2>
        <a:srgbClr val="F7F2E9"/>
      </a:lt2>
      <a:accent1>
        <a:srgbClr val="A1A48F"/>
      </a:accent1>
      <a:accent2>
        <a:srgbClr val="5A6B47"/>
      </a:accent2>
      <a:accent3>
        <a:srgbClr val="460130"/>
      </a:accent3>
      <a:accent4>
        <a:srgbClr val="5E85BC"/>
      </a:accent4>
      <a:accent5>
        <a:srgbClr val="848B9E"/>
      </a:accent5>
      <a:accent6>
        <a:srgbClr val="FFFFFF"/>
      </a:accent6>
      <a:hlink>
        <a:srgbClr val="55565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929</Words>
  <Application>Microsoft Office PowerPoint</Application>
  <PresentationFormat>On-screen Show (16:9)</PresentationFormat>
  <Paragraphs>217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Albert Sans Light</vt:lpstr>
      <vt:lpstr>Nunito Light</vt:lpstr>
      <vt:lpstr>Questrial</vt:lpstr>
      <vt:lpstr>Arial</vt:lpstr>
      <vt:lpstr>Albert Sans</vt:lpstr>
      <vt:lpstr>Biochemistry and Biomolecules - Science - 9th grade by Slidesgo</vt:lpstr>
      <vt:lpstr>Predviđanje afiniteta vezivanja inhibitora humanog tripsina primenom višestruke regresione analize i transfer learning pristupa</vt:lpstr>
      <vt:lpstr>Opis problema</vt:lpstr>
      <vt:lpstr>Transfer learning</vt:lpstr>
      <vt:lpstr>Skup podataka</vt:lpstr>
      <vt:lpstr>Molekulski deskriptori</vt:lpstr>
      <vt:lpstr>Problem visoke dimenzionalnosti</vt:lpstr>
      <vt:lpstr>Rezultati analize dimenzionalnosti</vt:lpstr>
      <vt:lpstr>Modeli i scenariji</vt:lpstr>
      <vt:lpstr>Rezultati – poređenje modela</vt:lpstr>
      <vt:lpstr>Rezultati – poređenje modela</vt:lpstr>
      <vt:lpstr>Rezultati – transfer efikasnost</vt:lpstr>
      <vt:lpstr>SHAP analiza</vt:lpstr>
      <vt:lpstr>SHAP analiza</vt:lpstr>
      <vt:lpstr>SHAP analiza</vt:lpstr>
      <vt:lpstr>Model vs molekulski doking</vt:lpstr>
      <vt:lpstr>Derivati cimetne kiseline</vt:lpstr>
      <vt:lpstr>GUI</vt:lpstr>
      <vt:lpstr>GUI</vt:lpstr>
      <vt:lpstr>GUI – Procena kompatibilnosti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Predviđanje afiniteta vezivanja inhibitora humanog tripsina primenom višestruke regresione analize i transfer learning pristupa</dc:title>
  <dc:creator>Daisy</dc:creator>
  <cp:lastModifiedBy>Daisy</cp:lastModifiedBy>
  <cp:revision>37</cp:revision>
  <dcterms:modified xsi:type="dcterms:W3CDTF">2026-03-02T02:32:03Z</dcterms:modified>
</cp:coreProperties>
</file>